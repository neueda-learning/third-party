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 type="custom"/>
  <p:notesSz cx="12192000" cy="6858000"/>
  <p:embeddedFontLst>
    <p:embeddedFont>
      <p:font typeface="Liter" charset="-122" pitchFamily="34"/>
      <p:regular r:id="rId13"/>
    </p:embeddedFont>
    <p:embeddedFont>
      <p:font typeface="Oranienbaum" charset="-122" pitchFamily="34"/>
      <p:regular r:id="rId14"/>
    </p:embeddedFont>
  </p:embeddedFontLst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_0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blipFill>
          <a:blip r:embed="rId2"/>
          <a:srcRect t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-top"/>
          <p:cNvSpPr/>
          <p:nvPr/>
        </p:nvSpPr>
        <p:spPr>
          <a:xfrm>
            <a:off x="812800" y="711200"/>
            <a:ext cx="10566400" cy="12700"/>
          </a:xfrm>
          <a:prstGeom prst="rect">
            <a:avLst/>
          </a:prstGeom>
          <a:solidFill>
            <a:srgbClr val="171512"/>
          </a:solidFill>
          <a:ln>
            <a:noFill/>
          </a:ln>
        </p:spPr>
      </p:sp>
      <p:sp>
        <p:nvSpPr>
          <p:cNvPr id="3" name="meta-left"/>
          <p:cNvSpPr txBox="1"/>
          <p:nvPr/>
        </p:nvSpPr>
        <p:spPr>
          <a:xfrm>
            <a:off x="812800" y="838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PROJECT PRESENTATION</a:t>
            </a:r>
            <a:endParaRPr lang="en-US" sz="900" noProof="1"/>
          </a:p>
        </p:txBody>
      </p:sp>
      <p:sp>
        <p:nvSpPr>
          <p:cNvPr id="4" name="meta-right"/>
          <p:cNvSpPr txBox="1"/>
          <p:nvPr/>
        </p:nvSpPr>
        <p:spPr>
          <a:xfrm>
            <a:off x="7569200" y="8382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SPRINT REVIEW — 10 SLIDES</a:t>
            </a:r>
            <a:endParaRPr lang="en-US" sz="900" noProof="1"/>
          </a:p>
        </p:txBody>
      </p:sp>
      <p:sp>
        <p:nvSpPr>
          <p:cNvPr id="5" name="kicker"/>
          <p:cNvSpPr txBox="1"/>
          <p:nvPr/>
        </p:nvSpPr>
        <p:spPr>
          <a:xfrm>
            <a:off x="3556000" y="1879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spc="300" kern="0">
                <a:solidFill>
                  <a:srgbClr val="6E6A61"/>
                </a:solidFill>
                <a:latin typeface="Liter"/>
                <a:ea typeface="Liter"/>
              </a:rPr>
              <a:t>A BACKEND ENGINEERING PROJECT</a:t>
            </a:r>
            <a:endParaRPr lang="en-US" sz="1100" noProof="1"/>
          </a:p>
        </p:txBody>
      </p:sp>
      <p:sp>
        <p:nvSpPr>
          <p:cNvPr id="6" name="main-title"/>
          <p:cNvSpPr txBox="1"/>
          <p:nvPr/>
        </p:nvSpPr>
        <p:spPr>
          <a:xfrm>
            <a:off x="1651000" y="2260600"/>
            <a:ext cx="8890000" cy="177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15000"/>
              </a:lnSpc>
            </a:pPr>
            <a:r>
              <a:rPr lang="en-US" sz="5400" noProof="1">
                <a:solidFill>
                  <a:srgbClr val="171512"/>
                </a:solidFill>
                <a:latin typeface="Oranienbaum"/>
                <a:ea typeface="Oranienbaum"/>
              </a:rPr>
              <a:t>Payment Processing</a:t>
            </a:r>
            <a:endParaRPr lang="en-US" sz="5400" noProof="1"/>
          </a:p>
          <a:p>
            <a:pPr algn="ctr">
              <a:lnSpc>
                <a:spcPct val="115000"/>
              </a:lnSpc>
            </a:pPr>
            <a:r>
              <a:rPr lang="en-US" sz="5400" noProof="1" i="1">
                <a:solidFill>
                  <a:srgbClr val="171512"/>
                </a:solidFill>
                <a:latin typeface="Oranienbaum"/>
                <a:ea typeface="Oranienbaum"/>
              </a:rPr>
              <a:t>System</a:t>
            </a:r>
            <a:endParaRPr lang="en-US" sz="5400" noProof="1"/>
          </a:p>
        </p:txBody>
      </p:sp>
      <p:sp>
        <p:nvSpPr>
          <p:cNvPr id="7" name="subtitle"/>
          <p:cNvSpPr txBox="1"/>
          <p:nvPr/>
        </p:nvSpPr>
        <p:spPr>
          <a:xfrm>
            <a:off x="2921000" y="4216400"/>
            <a:ext cx="635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>
                <a:solidFill>
                  <a:srgbClr val="6E6A61"/>
                </a:solidFill>
                <a:latin typeface="Liter"/>
                <a:ea typeface="Liter"/>
              </a:rPr>
              <a:t>Spring Boot · JDBC Template · MySQL</a:t>
            </a:r>
            <a:endParaRPr lang="en-US" sz="1500" noProof="1"/>
          </a:p>
        </p:txBody>
      </p:sp>
      <p:sp>
        <p:nvSpPr>
          <p:cNvPr id="8" name="pill1"/>
          <p:cNvSpPr/>
          <p:nvPr/>
        </p:nvSpPr>
        <p:spPr>
          <a:xfrm>
            <a:off x="3606800" y="4978400"/>
            <a:ext cx="1625600" cy="431800"/>
          </a:xfrm>
          <a:prstGeom prst="roundRect">
            <a:avLst>
              <a:gd name="adj" fmla="val 50000"/>
            </a:avLst>
          </a:prstGeom>
          <a:solidFill>
            <a:srgbClr val="171512"/>
          </a:solidFill>
          <a:ln>
            <a:noFill/>
          </a:ln>
        </p:spPr>
      </p:sp>
      <p:sp>
        <p:nvSpPr>
          <p:cNvPr id="9" name="pill1-text"/>
          <p:cNvSpPr txBox="1"/>
          <p:nvPr/>
        </p:nvSpPr>
        <p:spPr>
          <a:xfrm>
            <a:off x="3606800" y="4978400"/>
            <a:ext cx="1625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 spc="100" kern="0">
                <a:solidFill>
                  <a:srgbClr val="FFFFFF"/>
                </a:solidFill>
                <a:latin typeface="Liter"/>
                <a:ea typeface="Liter"/>
              </a:rPr>
              <a:t>4-PERSON TEAM</a:t>
            </a:r>
            <a:endParaRPr lang="en-US" sz="1100" noProof="1"/>
          </a:p>
        </p:txBody>
      </p:sp>
      <p:sp>
        <p:nvSpPr>
          <p:cNvPr id="10" name="pill2"/>
          <p:cNvSpPr/>
          <p:nvPr/>
        </p:nvSpPr>
        <p:spPr>
          <a:xfrm>
            <a:off x="5384800" y="4978400"/>
            <a:ext cx="1498600" cy="431800"/>
          </a:xfrm>
          <a:prstGeom prst="roundRect">
            <a:avLst>
              <a:gd name="adj" fmla="val 50000"/>
            </a:avLst>
          </a:prstGeom>
          <a:solidFill>
            <a:srgbClr val="171512"/>
          </a:solidFill>
          <a:ln>
            <a:noFill/>
          </a:ln>
        </p:spPr>
      </p:sp>
      <p:sp>
        <p:nvSpPr>
          <p:cNvPr id="11" name="pill2-text"/>
          <p:cNvSpPr txBox="1"/>
          <p:nvPr/>
        </p:nvSpPr>
        <p:spPr>
          <a:xfrm>
            <a:off x="5384800" y="4978400"/>
            <a:ext cx="14986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 spc="100" kern="0">
                <a:solidFill>
                  <a:srgbClr val="FFFFFF"/>
                </a:solidFill>
                <a:latin typeface="Liter"/>
                <a:ea typeface="Liter"/>
              </a:rPr>
              <a:t>5-DAY SPRINT</a:t>
            </a:r>
            <a:endParaRPr lang="en-US" sz="1100" noProof="1"/>
          </a:p>
        </p:txBody>
      </p:sp>
      <p:sp>
        <p:nvSpPr>
          <p:cNvPr id="12" name="pill3"/>
          <p:cNvSpPr/>
          <p:nvPr/>
        </p:nvSpPr>
        <p:spPr>
          <a:xfrm>
            <a:off x="7035800" y="4978400"/>
            <a:ext cx="1219200" cy="431800"/>
          </a:xfrm>
          <a:prstGeom prst="roundRect">
            <a:avLst>
              <a:gd name="adj" fmla="val 50000"/>
            </a:avLst>
          </a:prstGeom>
          <a:solidFill>
            <a:srgbClr val="171512"/>
          </a:solidFill>
          <a:ln>
            <a:noFill/>
          </a:ln>
        </p:spPr>
      </p:sp>
      <p:sp>
        <p:nvSpPr>
          <p:cNvPr id="13" name="pill3-text"/>
          <p:cNvSpPr txBox="1"/>
          <p:nvPr/>
        </p:nvSpPr>
        <p:spPr>
          <a:xfrm>
            <a:off x="7035800" y="4978400"/>
            <a:ext cx="12192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 spc="100" kern="0">
                <a:solidFill>
                  <a:srgbClr val="FFFFFF"/>
                </a:solidFill>
                <a:latin typeface="Liter"/>
                <a:ea typeface="Liter"/>
              </a:rPr>
              <a:t>REST API</a:t>
            </a:r>
            <a:endParaRPr lang="en-US" sz="1100" noProof="1"/>
          </a:p>
        </p:txBody>
      </p:sp>
      <p:sp>
        <p:nvSpPr>
          <p:cNvPr id="14" name="rule-bottom"/>
          <p:cNvSpPr/>
          <p:nvPr/>
        </p:nvSpPr>
        <p:spPr>
          <a:xfrm>
            <a:off x="812800" y="60706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812800" y="6197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PAYMENT PROCESSING SYSTEM</a:t>
            </a:r>
            <a:endParaRPr lang="en-US" sz="900" noProof="1"/>
          </a:p>
        </p:txBody>
      </p:sp>
      <p:sp>
        <p:nvSpPr>
          <p:cNvPr id="16" name="footer-right"/>
          <p:cNvSpPr txBox="1"/>
          <p:nvPr/>
        </p:nvSpPr>
        <p:spPr>
          <a:xfrm>
            <a:off x="7569200" y="61976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01 / 10</a:t>
            </a:r>
            <a:endParaRPr lang="en-US" sz="9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1" animBg="1"/>
      <p:bldP spid="7" grpId="2" animBg="1"/>
    </p:bldLst>
  </p:timing>
</p:sld>
</file>

<file path=ppt/slides/slide2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6E6A61"/>
                </a:solidFill>
                <a:latin typeface="Liter"/>
                <a:ea typeface="Liter"/>
              </a:rPr>
              <a:t>01 / OVERVIEW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171512"/>
                </a:solidFill>
                <a:latin typeface="Oranienbaum"/>
                <a:ea typeface="Oranienbaum"/>
              </a:rPr>
              <a:t>What We Built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5" name="card1"/>
          <p:cNvSpPr/>
          <p:nvPr/>
        </p:nvSpPr>
        <p:spPr>
          <a:xfrm>
            <a:off x="812800" y="1701800"/>
            <a:ext cx="5130800" cy="2006600"/>
          </a:xfrm>
          <a:prstGeom prst="roundRect">
            <a:avLst>
              <a:gd name="adj" fmla="val 6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6" name="card1-bar"/>
          <p:cNvSpPr/>
          <p:nvPr/>
        </p:nvSpPr>
        <p:spPr>
          <a:xfrm>
            <a:off x="812800" y="1701800"/>
            <a:ext cx="50800" cy="2006600"/>
          </a:xfrm>
          <a:prstGeom prst="rect">
            <a:avLst/>
          </a:prstGeom>
          <a:solidFill>
            <a:srgbClr val="171512"/>
          </a:solidFill>
          <a:ln>
            <a:noFill/>
          </a:ln>
        </p:spPr>
      </p:sp>
      <p:sp>
        <p:nvSpPr>
          <p:cNvPr id="7" name="card1-num"/>
          <p:cNvSpPr txBox="1"/>
          <p:nvPr/>
        </p:nvSpPr>
        <p:spPr>
          <a:xfrm>
            <a:off x="5130800" y="19050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200" noProof="1">
                <a:solidFill>
                  <a:srgbClr val="A8A196"/>
                </a:solidFill>
                <a:latin typeface="Oranienbaum"/>
                <a:ea typeface="Oranienbaum"/>
              </a:rPr>
              <a:t>01</a:t>
            </a:r>
            <a:endParaRPr lang="en-US" sz="2200" noProof="1"/>
          </a:p>
        </p:txBody>
      </p:sp>
      <p:sp>
        <p:nvSpPr>
          <p:cNvPr id="8" name="card1-title"/>
          <p:cNvSpPr txBox="1"/>
          <p:nvPr/>
        </p:nvSpPr>
        <p:spPr>
          <a:xfrm>
            <a:off x="1168400" y="1930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171512"/>
                </a:solidFill>
                <a:latin typeface="Liter"/>
                <a:ea typeface="Liter"/>
              </a:rPr>
              <a:t>The Goal</a:t>
            </a:r>
            <a:endParaRPr lang="en-US" sz="1700" noProof="1"/>
          </a:p>
        </p:txBody>
      </p:sp>
      <p:sp>
        <p:nvSpPr>
          <p:cNvPr id="9" name="card1-body"/>
          <p:cNvSpPr txBox="1"/>
          <p:nvPr/>
        </p:nvSpPr>
        <p:spPr>
          <a:xfrm>
            <a:off x="1168400" y="2336800"/>
            <a:ext cx="4419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A robust payment system with idempotency, state machine, timeout scheduling, and full audit history.</a:t>
            </a:r>
            <a:endParaRPr lang="en-US" sz="1300" noProof="1"/>
          </a:p>
        </p:txBody>
      </p:sp>
      <p:sp>
        <p:nvSpPr>
          <p:cNvPr id="10" name="card2"/>
          <p:cNvSpPr/>
          <p:nvPr/>
        </p:nvSpPr>
        <p:spPr>
          <a:xfrm>
            <a:off x="6248400" y="1701800"/>
            <a:ext cx="5130800" cy="2006600"/>
          </a:xfrm>
          <a:prstGeom prst="roundRect">
            <a:avLst>
              <a:gd name="adj" fmla="val 6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11" name="card2-bar"/>
          <p:cNvSpPr/>
          <p:nvPr/>
        </p:nvSpPr>
        <p:spPr>
          <a:xfrm>
            <a:off x="6248400" y="1701800"/>
            <a:ext cx="50800" cy="2006600"/>
          </a:xfrm>
          <a:prstGeom prst="rect">
            <a:avLst/>
          </a:prstGeom>
          <a:solidFill>
            <a:srgbClr val="171512"/>
          </a:solidFill>
          <a:ln>
            <a:noFill/>
          </a:ln>
        </p:spPr>
      </p:sp>
      <p:sp>
        <p:nvSpPr>
          <p:cNvPr id="12" name="card2-num"/>
          <p:cNvSpPr txBox="1"/>
          <p:nvPr/>
        </p:nvSpPr>
        <p:spPr>
          <a:xfrm>
            <a:off x="10566400" y="19050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200" noProof="1">
                <a:solidFill>
                  <a:srgbClr val="A8A196"/>
                </a:solidFill>
                <a:latin typeface="Oranienbaum"/>
                <a:ea typeface="Oranienbaum"/>
              </a:rPr>
              <a:t>02</a:t>
            </a:r>
            <a:endParaRPr lang="en-US" sz="2200" noProof="1"/>
          </a:p>
        </p:txBody>
      </p:sp>
      <p:sp>
        <p:nvSpPr>
          <p:cNvPr id="13" name="card2-title"/>
          <p:cNvSpPr txBox="1"/>
          <p:nvPr/>
        </p:nvSpPr>
        <p:spPr>
          <a:xfrm>
            <a:off x="6604000" y="1930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171512"/>
                </a:solidFill>
                <a:latin typeface="Liter"/>
                <a:ea typeface="Liter"/>
              </a:rPr>
              <a:t>The Stack</a:t>
            </a:r>
            <a:endParaRPr lang="en-US" sz="1700" noProof="1"/>
          </a:p>
        </p:txBody>
      </p:sp>
      <p:sp>
        <p:nvSpPr>
          <p:cNvPr id="14" name="card2-body"/>
          <p:cNvSpPr txBox="1"/>
          <p:nvPr/>
        </p:nvSpPr>
        <p:spPr>
          <a:xfrm>
            <a:off x="6604000" y="2336800"/>
            <a:ext cx="4419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Spring Boot 3.2 + Java 21 + JDBC Template + MySQL 8.0 + Native HTML/JS frontend.</a:t>
            </a:r>
            <a:endParaRPr lang="en-US" sz="1300" noProof="1"/>
          </a:p>
        </p:txBody>
      </p:sp>
      <p:sp>
        <p:nvSpPr>
          <p:cNvPr id="15" name="card3"/>
          <p:cNvSpPr/>
          <p:nvPr/>
        </p:nvSpPr>
        <p:spPr>
          <a:xfrm>
            <a:off x="812800" y="3911600"/>
            <a:ext cx="5130800" cy="2006600"/>
          </a:xfrm>
          <a:prstGeom prst="roundRect">
            <a:avLst>
              <a:gd name="adj" fmla="val 6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16" name="card3-bar"/>
          <p:cNvSpPr/>
          <p:nvPr/>
        </p:nvSpPr>
        <p:spPr>
          <a:xfrm>
            <a:off x="812800" y="3911600"/>
            <a:ext cx="50800" cy="2006600"/>
          </a:xfrm>
          <a:prstGeom prst="rect">
            <a:avLst/>
          </a:prstGeom>
          <a:solidFill>
            <a:srgbClr val="171512"/>
          </a:solidFill>
          <a:ln>
            <a:noFill/>
          </a:ln>
        </p:spPr>
      </p:sp>
      <p:sp>
        <p:nvSpPr>
          <p:cNvPr id="17" name="card3-num"/>
          <p:cNvSpPr txBox="1"/>
          <p:nvPr/>
        </p:nvSpPr>
        <p:spPr>
          <a:xfrm>
            <a:off x="5130800" y="41148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200" noProof="1">
                <a:solidFill>
                  <a:srgbClr val="A8A196"/>
                </a:solidFill>
                <a:latin typeface="Oranienbaum"/>
                <a:ea typeface="Oranienbaum"/>
              </a:rPr>
              <a:t>03</a:t>
            </a:r>
            <a:endParaRPr lang="en-US" sz="2200" noProof="1"/>
          </a:p>
        </p:txBody>
      </p:sp>
      <p:sp>
        <p:nvSpPr>
          <p:cNvPr id="18" name="card3-title"/>
          <p:cNvSpPr txBox="1"/>
          <p:nvPr/>
        </p:nvSpPr>
        <p:spPr>
          <a:xfrm>
            <a:off x="1168400" y="4140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171512"/>
                </a:solidFill>
                <a:latin typeface="Liter"/>
                <a:ea typeface="Liter"/>
              </a:rPr>
              <a:t>Key Constraint</a:t>
            </a:r>
            <a:endParaRPr lang="en-US" sz="1700" noProof="1"/>
          </a:p>
        </p:txBody>
      </p:sp>
      <p:sp>
        <p:nvSpPr>
          <p:cNvPr id="19" name="card3-body"/>
          <p:cNvSpPr txBox="1"/>
          <p:nvPr/>
        </p:nvSpPr>
        <p:spPr>
          <a:xfrm>
            <a:off x="1168400" y="4546600"/>
            <a:ext cx="4419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CNY-only, 15-min auto-timeout from CREATED, String idempotency keys.</a:t>
            </a:r>
            <a:endParaRPr lang="en-US" sz="1300" noProof="1"/>
          </a:p>
        </p:txBody>
      </p:sp>
      <p:sp>
        <p:nvSpPr>
          <p:cNvPr id="20" name="card4"/>
          <p:cNvSpPr/>
          <p:nvPr/>
        </p:nvSpPr>
        <p:spPr>
          <a:xfrm>
            <a:off x="6248400" y="3911600"/>
            <a:ext cx="5130800" cy="2006600"/>
          </a:xfrm>
          <a:prstGeom prst="roundRect">
            <a:avLst>
              <a:gd name="adj" fmla="val 6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21" name="card4-bar"/>
          <p:cNvSpPr/>
          <p:nvPr/>
        </p:nvSpPr>
        <p:spPr>
          <a:xfrm>
            <a:off x="6248400" y="3911600"/>
            <a:ext cx="50800" cy="2006600"/>
          </a:xfrm>
          <a:prstGeom prst="rect">
            <a:avLst/>
          </a:prstGeom>
          <a:solidFill>
            <a:srgbClr val="171512"/>
          </a:solidFill>
          <a:ln>
            <a:noFill/>
          </a:ln>
        </p:spPr>
      </p:sp>
      <p:sp>
        <p:nvSpPr>
          <p:cNvPr id="22" name="card4-num"/>
          <p:cNvSpPr txBox="1"/>
          <p:nvPr/>
        </p:nvSpPr>
        <p:spPr>
          <a:xfrm>
            <a:off x="10566400" y="41148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2200" noProof="1">
                <a:solidFill>
                  <a:srgbClr val="A8A196"/>
                </a:solidFill>
                <a:latin typeface="Oranienbaum"/>
                <a:ea typeface="Oranienbaum"/>
              </a:rPr>
              <a:t>04</a:t>
            </a:r>
            <a:endParaRPr lang="en-US" sz="2200" noProof="1"/>
          </a:p>
        </p:txBody>
      </p:sp>
      <p:sp>
        <p:nvSpPr>
          <p:cNvPr id="23" name="card4-title"/>
          <p:cNvSpPr txBox="1"/>
          <p:nvPr/>
        </p:nvSpPr>
        <p:spPr>
          <a:xfrm>
            <a:off x="6604000" y="4140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171512"/>
                </a:solidFill>
                <a:latin typeface="Liter"/>
                <a:ea typeface="Liter"/>
              </a:rPr>
              <a:t>Timeline</a:t>
            </a:r>
            <a:endParaRPr lang="en-US" sz="1700" noProof="1"/>
          </a:p>
        </p:txBody>
      </p:sp>
      <p:sp>
        <p:nvSpPr>
          <p:cNvPr id="24" name="card4-body"/>
          <p:cNvSpPr txBox="1"/>
          <p:nvPr/>
        </p:nvSpPr>
        <p:spPr>
          <a:xfrm>
            <a:off x="6604000" y="4546600"/>
            <a:ext cx="4419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5-day agile sprint: scaffold → core → query → scheduler → polish.</a:t>
            </a:r>
            <a:endParaRPr lang="en-US" sz="1300" noProof="1"/>
          </a:p>
        </p:txBody>
      </p:sp>
      <p:sp>
        <p:nvSpPr>
          <p:cNvPr id="25" name="rule-bottom"/>
          <p:cNvSpPr/>
          <p:nvPr/>
        </p:nvSpPr>
        <p:spPr>
          <a:xfrm>
            <a:off x="812800" y="6350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8128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PAYMENT PROCESSING SYSTEM</a:t>
            </a:r>
            <a:endParaRPr lang="en-US" sz="900" noProof="1"/>
          </a:p>
        </p:txBody>
      </p:sp>
      <p:sp>
        <p:nvSpPr>
          <p:cNvPr id="27" name="footer-right"/>
          <p:cNvSpPr txBox="1"/>
          <p:nvPr/>
        </p:nvSpPr>
        <p:spPr>
          <a:xfrm>
            <a:off x="75692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02 / 10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6E6A61"/>
                </a:solidFill>
                <a:latin typeface="Liter"/>
                <a:ea typeface="Liter"/>
              </a:rPr>
              <a:t>02 / ARCHITECTURE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171512"/>
                </a:solidFill>
                <a:latin typeface="Oranienbaum"/>
                <a:ea typeface="Oranienbaum"/>
              </a:rPr>
              <a:t>Layered Architecture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5" name="layer1"/>
          <p:cNvSpPr/>
          <p:nvPr/>
        </p:nvSpPr>
        <p:spPr>
          <a:xfrm>
            <a:off x="3175000" y="1676400"/>
            <a:ext cx="5842000" cy="660400"/>
          </a:xfrm>
          <a:prstGeom prst="roundRect">
            <a:avLst>
              <a:gd name="adj" fmla="val 12000"/>
            </a:avLst>
          </a:prstGeom>
          <a:solidFill>
            <a:srgbClr val="171512"/>
          </a:solidFill>
          <a:ln>
            <a:noFill/>
          </a:ln>
        </p:spPr>
      </p:sp>
      <p:sp>
        <p:nvSpPr>
          <p:cNvPr id="6" name="layer1-text"/>
          <p:cNvSpPr txBox="1"/>
          <p:nvPr/>
        </p:nvSpPr>
        <p:spPr>
          <a:xfrm>
            <a:off x="3175000" y="1676400"/>
            <a:ext cx="584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Liter"/>
                <a:ea typeface="Liter"/>
              </a:rPr>
              <a:t>Web UI (HTML/CSS/JS)</a:t>
            </a:r>
            <a:endParaRPr lang="en-US" sz="1500" noProof="1"/>
          </a:p>
        </p:txBody>
      </p:sp>
      <p:sp>
        <p:nvSpPr>
          <p:cNvPr id="7" name="arrow1"/>
          <p:cNvSpPr txBox="1"/>
          <p:nvPr/>
        </p:nvSpPr>
        <p:spPr>
          <a:xfrm>
            <a:off x="3175000" y="23622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A8A196"/>
                </a:solidFill>
                <a:latin typeface="Liter"/>
                <a:ea typeface="Liter"/>
              </a:rPr>
              <a:t>↓ HTTP/REST</a:t>
            </a:r>
            <a:endParaRPr lang="en-US" sz="1200" noProof="1"/>
          </a:p>
        </p:txBody>
      </p:sp>
      <p:sp>
        <p:nvSpPr>
          <p:cNvPr id="8" name="layer2"/>
          <p:cNvSpPr/>
          <p:nvPr/>
        </p:nvSpPr>
        <p:spPr>
          <a:xfrm>
            <a:off x="3175000" y="2616200"/>
            <a:ext cx="5842000" cy="660400"/>
          </a:xfrm>
          <a:prstGeom prst="roundRect">
            <a:avLst>
              <a:gd name="adj" fmla="val 12000"/>
            </a:avLst>
          </a:prstGeom>
          <a:solidFill>
            <a:srgbClr val="F2EDE3"/>
          </a:solidFill>
          <a:ln w="19050">
            <a:solidFill>
              <a:srgbClr val="E3DCCE"/>
            </a:solidFill>
          </a:ln>
        </p:spPr>
      </p:sp>
      <p:sp>
        <p:nvSpPr>
          <p:cNvPr id="9" name="layer2-text"/>
          <p:cNvSpPr txBox="1"/>
          <p:nvPr/>
        </p:nvSpPr>
        <p:spPr>
          <a:xfrm>
            <a:off x="3175000" y="2616200"/>
            <a:ext cx="584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71512"/>
                </a:solidFill>
                <a:latin typeface="Liter"/>
                <a:ea typeface="Liter"/>
              </a:rPr>
              <a:t>Controller Layer — API endpoints &amp; validation</a:t>
            </a:r>
            <a:endParaRPr lang="en-US" sz="1500" noProof="1"/>
          </a:p>
        </p:txBody>
      </p:sp>
      <p:sp>
        <p:nvSpPr>
          <p:cNvPr id="10" name="arrow2"/>
          <p:cNvSpPr txBox="1"/>
          <p:nvPr/>
        </p:nvSpPr>
        <p:spPr>
          <a:xfrm>
            <a:off x="3175000" y="33020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A8A196"/>
                </a:solidFill>
                <a:latin typeface="Liter"/>
                <a:ea typeface="Liter"/>
              </a:rPr>
              <a:t>↓</a:t>
            </a:r>
            <a:endParaRPr lang="en-US" sz="1200" noProof="1"/>
          </a:p>
        </p:txBody>
      </p:sp>
      <p:sp>
        <p:nvSpPr>
          <p:cNvPr id="11" name="layer3"/>
          <p:cNvSpPr/>
          <p:nvPr/>
        </p:nvSpPr>
        <p:spPr>
          <a:xfrm>
            <a:off x="3175000" y="3556000"/>
            <a:ext cx="5842000" cy="660400"/>
          </a:xfrm>
          <a:prstGeom prst="roundRect">
            <a:avLst>
              <a:gd name="adj" fmla="val 12000"/>
            </a:avLst>
          </a:prstGeom>
          <a:solidFill>
            <a:srgbClr val="F2EDE3"/>
          </a:solidFill>
          <a:ln w="19050">
            <a:solidFill>
              <a:srgbClr val="E3DCCE"/>
            </a:solidFill>
          </a:ln>
        </p:spPr>
      </p:sp>
      <p:sp>
        <p:nvSpPr>
          <p:cNvPr id="12" name="layer3-text"/>
          <p:cNvSpPr txBox="1"/>
          <p:nvPr/>
        </p:nvSpPr>
        <p:spPr>
          <a:xfrm>
            <a:off x="3175000" y="3556000"/>
            <a:ext cx="584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71512"/>
                </a:solidFill>
                <a:latin typeface="Liter"/>
                <a:ea typeface="Liter"/>
              </a:rPr>
              <a:t>Service Layer — Business rules &amp; state machine</a:t>
            </a:r>
            <a:endParaRPr lang="en-US" sz="1500" noProof="1"/>
          </a:p>
        </p:txBody>
      </p:sp>
      <p:sp>
        <p:nvSpPr>
          <p:cNvPr id="13" name="arrow3"/>
          <p:cNvSpPr txBox="1"/>
          <p:nvPr/>
        </p:nvSpPr>
        <p:spPr>
          <a:xfrm>
            <a:off x="3175000" y="42418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A8A196"/>
                </a:solidFill>
                <a:latin typeface="Liter"/>
                <a:ea typeface="Liter"/>
              </a:rPr>
              <a:t>↓</a:t>
            </a:r>
            <a:endParaRPr lang="en-US" sz="1200" noProof="1"/>
          </a:p>
        </p:txBody>
      </p:sp>
      <p:sp>
        <p:nvSpPr>
          <p:cNvPr id="14" name="layer4"/>
          <p:cNvSpPr/>
          <p:nvPr/>
        </p:nvSpPr>
        <p:spPr>
          <a:xfrm>
            <a:off x="3175000" y="4495800"/>
            <a:ext cx="5842000" cy="660400"/>
          </a:xfrm>
          <a:prstGeom prst="roundRect">
            <a:avLst>
              <a:gd name="adj" fmla="val 12000"/>
            </a:avLst>
          </a:prstGeom>
          <a:solidFill>
            <a:srgbClr val="F2EDE3"/>
          </a:solidFill>
          <a:ln w="19050">
            <a:solidFill>
              <a:srgbClr val="E3DCCE"/>
            </a:solidFill>
          </a:ln>
        </p:spPr>
      </p:sp>
      <p:sp>
        <p:nvSpPr>
          <p:cNvPr id="15" name="layer4-text"/>
          <p:cNvSpPr txBox="1"/>
          <p:nvPr/>
        </p:nvSpPr>
        <p:spPr>
          <a:xfrm>
            <a:off x="3175000" y="4495800"/>
            <a:ext cx="584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171512"/>
                </a:solidFill>
                <a:latin typeface="Liter"/>
                <a:ea typeface="Liter"/>
              </a:rPr>
              <a:t>DAO Layer — JDBC Template &amp; transactions</a:t>
            </a:r>
            <a:endParaRPr lang="en-US" sz="1500" noProof="1"/>
          </a:p>
        </p:txBody>
      </p:sp>
      <p:sp>
        <p:nvSpPr>
          <p:cNvPr id="16" name="arrow4"/>
          <p:cNvSpPr txBox="1"/>
          <p:nvPr/>
        </p:nvSpPr>
        <p:spPr>
          <a:xfrm>
            <a:off x="3175000" y="5181600"/>
            <a:ext cx="5842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>
                <a:solidFill>
                  <a:srgbClr val="A8A196"/>
                </a:solidFill>
                <a:latin typeface="Liter"/>
                <a:ea typeface="Liter"/>
              </a:rPr>
              <a:t>↓</a:t>
            </a:r>
            <a:endParaRPr lang="en-US" sz="1200" noProof="1"/>
          </a:p>
        </p:txBody>
      </p:sp>
      <p:sp>
        <p:nvSpPr>
          <p:cNvPr id="17" name="layer5"/>
          <p:cNvSpPr/>
          <p:nvPr/>
        </p:nvSpPr>
        <p:spPr>
          <a:xfrm>
            <a:off x="3175000" y="5435600"/>
            <a:ext cx="5842000" cy="660400"/>
          </a:xfrm>
          <a:prstGeom prst="roundRect">
            <a:avLst>
              <a:gd name="adj" fmla="val 12000"/>
            </a:avLst>
          </a:prstGeom>
          <a:solidFill>
            <a:srgbClr val="171512"/>
          </a:solidFill>
          <a:ln>
            <a:noFill/>
          </a:ln>
        </p:spPr>
      </p:sp>
      <p:sp>
        <p:nvSpPr>
          <p:cNvPr id="18" name="layer5-text"/>
          <p:cNvSpPr txBox="1"/>
          <p:nvPr/>
        </p:nvSpPr>
        <p:spPr>
          <a:xfrm>
            <a:off x="3175000" y="5435600"/>
            <a:ext cx="584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Liter"/>
                <a:ea typeface="Liter"/>
              </a:rPr>
              <a:t>MySQL — payments + payment_history</a:t>
            </a:r>
            <a:endParaRPr lang="en-US" sz="1500" noProof="1"/>
          </a:p>
        </p:txBody>
      </p:sp>
      <p:sp>
        <p:nvSpPr>
          <p:cNvPr id="19" name="rule-bottom"/>
          <p:cNvSpPr/>
          <p:nvPr/>
        </p:nvSpPr>
        <p:spPr>
          <a:xfrm>
            <a:off x="812800" y="6350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20" name="footer-left"/>
          <p:cNvSpPr txBox="1"/>
          <p:nvPr/>
        </p:nvSpPr>
        <p:spPr>
          <a:xfrm>
            <a:off x="8128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PAYMENT PROCESSING SYSTEM</a:t>
            </a:r>
            <a:endParaRPr lang="en-US" sz="900" noProof="1"/>
          </a:p>
        </p:txBody>
      </p:sp>
      <p:sp>
        <p:nvSpPr>
          <p:cNvPr id="21" name="footer-right"/>
          <p:cNvSpPr txBox="1"/>
          <p:nvPr/>
        </p:nvSpPr>
        <p:spPr>
          <a:xfrm>
            <a:off x="75692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03 / 10</a:t>
            </a:r>
            <a:endParaRPr lang="en-US" sz="9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1" animBg="1"/>
      <p:bldP spid="11" grpId="2" animBg="1"/>
      <p:bldP spid="14" grpId="3" animBg="1"/>
      <p:bldP spid="17" grpId="4" animBg="1"/>
    </p:bldLst>
  </p:timing>
</p:sld>
</file>

<file path=ppt/slides/slide4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6E6A61"/>
                </a:solidFill>
                <a:latin typeface="Liter"/>
                <a:ea typeface="Liter"/>
              </a:rPr>
              <a:t>03 / DATA MODEL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171512"/>
                </a:solidFill>
                <a:latin typeface="Oranienbaum"/>
                <a:ea typeface="Oranienbaum"/>
              </a:rPr>
              <a:t>Core Entities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5" name="card1"/>
          <p:cNvSpPr/>
          <p:nvPr/>
        </p:nvSpPr>
        <p:spPr>
          <a:xfrm>
            <a:off x="812800" y="1701800"/>
            <a:ext cx="5130800" cy="4368800"/>
          </a:xfrm>
          <a:prstGeom prst="roundRect">
            <a:avLst>
              <a:gd name="adj" fmla="val 4000"/>
            </a:avLst>
          </a:prstGeom>
          <a:solidFill>
            <a:srgbClr val="F2EDE3"/>
          </a:solidFill>
          <a:ln w="19050">
            <a:solidFill>
              <a:srgbClr val="E3DCCE"/>
            </a:solidFill>
          </a:ln>
        </p:spPr>
      </p:sp>
      <p:sp>
        <p:nvSpPr>
          <p:cNvPr id="6" name="card1-title"/>
          <p:cNvSpPr txBox="1"/>
          <p:nvPr/>
        </p:nvSpPr>
        <p:spPr>
          <a:xfrm>
            <a:off x="1168400" y="19812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171512"/>
                </a:solidFill>
                <a:latin typeface="Oranienbaum"/>
                <a:ea typeface="Oranienbaum"/>
              </a:rPr>
              <a:t>payments</a:t>
            </a:r>
            <a:endParaRPr lang="en-US" sz="2200" noProof="1"/>
          </a:p>
        </p:txBody>
      </p:sp>
      <p:sp>
        <p:nvSpPr>
          <p:cNvPr id="7" name="card1-rule"/>
          <p:cNvSpPr/>
          <p:nvPr/>
        </p:nvSpPr>
        <p:spPr>
          <a:xfrm>
            <a:off x="1168400" y="2463800"/>
            <a:ext cx="44196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8" name="card1-body"/>
          <p:cNvSpPr txBox="1"/>
          <p:nvPr/>
        </p:nvSpPr>
        <p:spPr>
          <a:xfrm>
            <a:off x="1168400" y="2641600"/>
            <a:ext cx="4419600" cy="320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id </a:t>
            </a:r>
            <a:r>
              <a:rPr lang="en-US" sz="1300" noProof="1">
                <a:solidFill>
                  <a:srgbClr val="A8A196"/>
                </a:solidFill>
                <a:latin typeface="Liter"/>
                <a:ea typeface="Liter"/>
              </a:rPr>
              <a:t>(PK, AUTO_INC)</a:t>
            </a:r>
            <a:endParaRPr lang="en-US" sz="1300" noProof="1"/>
          </a:p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idempotency_key </a:t>
            </a:r>
            <a:r>
              <a:rPr lang="en-US" sz="1300" noProof="1">
                <a:solidFill>
                  <a:srgbClr val="A8A196"/>
                </a:solidFill>
                <a:latin typeface="Liter"/>
                <a:ea typeface="Liter"/>
              </a:rPr>
              <a:t>(UNIQUE)</a:t>
            </a:r>
            <a:endParaRPr lang="en-US" sz="1300" noProof="1"/>
          </a:p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source_account / destination_account</a:t>
            </a:r>
            <a:endParaRPr lang="en-US" sz="1300" noProof="1"/>
          </a:p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amount </a:t>
            </a:r>
            <a:r>
              <a:rPr lang="en-US" sz="1300" noProof="1">
                <a:solidFill>
                  <a:srgbClr val="A8A196"/>
                </a:solidFill>
                <a:latin typeface="Liter"/>
                <a:ea typeface="Liter"/>
              </a:rPr>
              <a:t>(DECIMAL 18,2)</a:t>
            </a:r>
            <a:endParaRPr lang="en-US" sz="1300" noProof="1"/>
          </a:p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currency </a:t>
            </a:r>
            <a:r>
              <a:rPr lang="en-US" sz="1300" noProof="1">
                <a:solidFill>
                  <a:srgbClr val="A8A196"/>
                </a:solidFill>
                <a:latin typeface="Liter"/>
                <a:ea typeface="Liter"/>
              </a:rPr>
              <a:t>(CNY)</a:t>
            </a:r>
            <a:endParaRPr lang="en-US" sz="1300" noProof="1"/>
          </a:p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status / error_code / reference</a:t>
            </a:r>
            <a:endParaRPr lang="en-US" sz="1300" noProof="1"/>
          </a:p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version </a:t>
            </a:r>
            <a:r>
              <a:rPr lang="en-US" sz="1300" noProof="1">
                <a:solidFill>
                  <a:srgbClr val="A8A196"/>
                </a:solidFill>
                <a:latin typeface="Liter"/>
                <a:ea typeface="Liter"/>
              </a:rPr>
              <a:t>(optimistic lock)</a:t>
            </a:r>
            <a:endParaRPr lang="en-US" sz="1300" noProof="1"/>
          </a:p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created_at / updated_at</a:t>
            </a:r>
            <a:endParaRPr lang="en-US" sz="1300" noProof="1"/>
          </a:p>
        </p:txBody>
      </p:sp>
      <p:sp>
        <p:nvSpPr>
          <p:cNvPr id="9" name="card2"/>
          <p:cNvSpPr/>
          <p:nvPr/>
        </p:nvSpPr>
        <p:spPr>
          <a:xfrm>
            <a:off x="6248400" y="1701800"/>
            <a:ext cx="5130800" cy="4368800"/>
          </a:xfrm>
          <a:prstGeom prst="roundRect">
            <a:avLst>
              <a:gd name="adj" fmla="val 4000"/>
            </a:avLst>
          </a:prstGeom>
          <a:solidFill>
            <a:srgbClr val="F2EDE3"/>
          </a:solidFill>
          <a:ln w="19050">
            <a:solidFill>
              <a:srgbClr val="E3DCCE"/>
            </a:solidFill>
          </a:ln>
        </p:spPr>
      </p:sp>
      <p:sp>
        <p:nvSpPr>
          <p:cNvPr id="10" name="card2-title"/>
          <p:cNvSpPr txBox="1"/>
          <p:nvPr/>
        </p:nvSpPr>
        <p:spPr>
          <a:xfrm>
            <a:off x="6604000" y="19812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171512"/>
                </a:solidFill>
                <a:latin typeface="Oranienbaum"/>
                <a:ea typeface="Oranienbaum"/>
              </a:rPr>
              <a:t>payment_history</a:t>
            </a:r>
            <a:endParaRPr lang="en-US" sz="2200" noProof="1"/>
          </a:p>
        </p:txBody>
      </p:sp>
      <p:sp>
        <p:nvSpPr>
          <p:cNvPr id="11" name="card2-rule"/>
          <p:cNvSpPr/>
          <p:nvPr/>
        </p:nvSpPr>
        <p:spPr>
          <a:xfrm>
            <a:off x="6604000" y="2463800"/>
            <a:ext cx="44196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12" name="card2-body"/>
          <p:cNvSpPr txBox="1"/>
          <p:nvPr/>
        </p:nvSpPr>
        <p:spPr>
          <a:xfrm>
            <a:off x="6604000" y="2641600"/>
            <a:ext cx="44196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id </a:t>
            </a:r>
            <a:r>
              <a:rPr lang="en-US" sz="1300" noProof="1">
                <a:solidFill>
                  <a:srgbClr val="A8A196"/>
                </a:solidFill>
                <a:latin typeface="Liter"/>
                <a:ea typeface="Liter"/>
              </a:rPr>
              <a:t>(PK)</a:t>
            </a:r>
            <a:endParaRPr lang="en-US" sz="1300" noProof="1"/>
          </a:p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payment_id </a:t>
            </a:r>
            <a:r>
              <a:rPr lang="en-US" sz="1300" noProof="1">
                <a:solidFill>
                  <a:srgbClr val="A8A196"/>
                </a:solidFill>
                <a:latin typeface="Liter"/>
                <a:ea typeface="Liter"/>
              </a:rPr>
              <a:t>(FK)</a:t>
            </a:r>
            <a:endParaRPr lang="en-US" sz="1300" noProof="1"/>
          </a:p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from_status → to_status</a:t>
            </a:r>
            <a:endParaRPr lang="en-US" sz="1300" noProof="1"/>
          </a:p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reason / triggered_by</a:t>
            </a:r>
            <a:endParaRPr lang="en-US" sz="1300" noProof="1"/>
          </a:p>
          <a:p>
            <a:pPr algn="l">
              <a:lnSpc>
                <a:spcPct val="195000"/>
              </a:lnSpc>
            </a:pPr>
            <a:r>
              <a:rPr lang="en-US" sz="1300" noProof="1">
                <a:solidFill>
                  <a:srgbClr val="171512"/>
                </a:solidFill>
                <a:latin typeface="Liter"/>
                <a:ea typeface="Liter"/>
              </a:rPr>
              <a:t>created_at</a:t>
            </a:r>
            <a:endParaRPr lang="en-US" sz="1300" noProof="1"/>
          </a:p>
        </p:txBody>
      </p:sp>
      <p:sp>
        <p:nvSpPr>
          <p:cNvPr id="13" name="card2-note"/>
          <p:cNvSpPr txBox="1"/>
          <p:nvPr/>
        </p:nvSpPr>
        <p:spPr>
          <a:xfrm>
            <a:off x="6604000" y="5207000"/>
            <a:ext cx="4419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00" noProof="1" i="1">
                <a:solidFill>
                  <a:srgbClr val="6E6A61"/>
                </a:solidFill>
                <a:latin typeface="Liter"/>
                <a:ea typeface="Liter"/>
              </a:rPr>
              <a:t>Full audit trail for every state change.</a:t>
            </a:r>
            <a:endParaRPr lang="en-US" sz="1200" noProof="1"/>
          </a:p>
        </p:txBody>
      </p:sp>
      <p:sp>
        <p:nvSpPr>
          <p:cNvPr id="14" name="rule-bottom"/>
          <p:cNvSpPr/>
          <p:nvPr/>
        </p:nvSpPr>
        <p:spPr>
          <a:xfrm>
            <a:off x="812800" y="6350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15" name="footer-left"/>
          <p:cNvSpPr txBox="1"/>
          <p:nvPr/>
        </p:nvSpPr>
        <p:spPr>
          <a:xfrm>
            <a:off x="8128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PAYMENT PROCESSING SYSTEM</a:t>
            </a:r>
            <a:endParaRPr lang="en-US" sz="900" noProof="1"/>
          </a:p>
        </p:txBody>
      </p:sp>
      <p:sp>
        <p:nvSpPr>
          <p:cNvPr id="16" name="footer-right"/>
          <p:cNvSpPr txBox="1"/>
          <p:nvPr/>
        </p:nvSpPr>
        <p:spPr>
          <a:xfrm>
            <a:off x="75692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04 / 10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6E6A61"/>
                </a:solidFill>
                <a:latin typeface="Liter"/>
                <a:ea typeface="Liter"/>
              </a:rPr>
              <a:t>04 / STATE MACHINE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171512"/>
                </a:solidFill>
                <a:latin typeface="Oranienbaum"/>
                <a:ea typeface="Oranienbaum"/>
              </a:rPr>
              <a:t>Payment Lifecycle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5" name="state1"/>
          <p:cNvSpPr/>
          <p:nvPr/>
        </p:nvSpPr>
        <p:spPr>
          <a:xfrm>
            <a:off x="1625600" y="1854200"/>
            <a:ext cx="1905000" cy="711200"/>
          </a:xfrm>
          <a:prstGeom prst="roundRect">
            <a:avLst>
              <a:gd name="adj" fmla="val 14000"/>
            </a:avLst>
          </a:prstGeom>
          <a:solidFill>
            <a:srgbClr val="171512"/>
          </a:solidFill>
          <a:ln>
            <a:noFill/>
          </a:ln>
        </p:spPr>
      </p:sp>
      <p:sp>
        <p:nvSpPr>
          <p:cNvPr id="6" name="state1-text"/>
          <p:cNvSpPr txBox="1"/>
          <p:nvPr/>
        </p:nvSpPr>
        <p:spPr>
          <a:xfrm>
            <a:off x="1625600" y="1854200"/>
            <a:ext cx="190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 spc="100" kern="0">
                <a:solidFill>
                  <a:srgbClr val="FFFFFF"/>
                </a:solidFill>
                <a:latin typeface="Liter"/>
                <a:ea typeface="Liter"/>
              </a:rPr>
              <a:t>CREATED</a:t>
            </a:r>
            <a:endParaRPr lang="en-US" sz="1500" noProof="1"/>
          </a:p>
        </p:txBody>
      </p:sp>
      <p:sp>
        <p:nvSpPr>
          <p:cNvPr id="7" name="flow-arrow1"/>
          <p:cNvSpPr txBox="1"/>
          <p:nvPr/>
        </p:nvSpPr>
        <p:spPr>
          <a:xfrm>
            <a:off x="3530600" y="1854200"/>
            <a:ext cx="457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A8A196"/>
                </a:solidFill>
                <a:latin typeface="Liter"/>
                <a:ea typeface="Liter"/>
              </a:rPr>
              <a:t>→</a:t>
            </a:r>
            <a:endParaRPr lang="en-US" sz="1800" noProof="1"/>
          </a:p>
        </p:txBody>
      </p:sp>
      <p:sp>
        <p:nvSpPr>
          <p:cNvPr id="8" name="state2"/>
          <p:cNvSpPr/>
          <p:nvPr/>
        </p:nvSpPr>
        <p:spPr>
          <a:xfrm>
            <a:off x="3987800" y="1854200"/>
            <a:ext cx="1905000" cy="711200"/>
          </a:xfrm>
          <a:prstGeom prst="roundRect">
            <a:avLst>
              <a:gd name="adj" fmla="val 14000"/>
            </a:avLst>
          </a:prstGeom>
          <a:solidFill>
            <a:srgbClr val="3E3A33"/>
          </a:solidFill>
          <a:ln>
            <a:noFill/>
          </a:ln>
        </p:spPr>
      </p:sp>
      <p:sp>
        <p:nvSpPr>
          <p:cNvPr id="9" name="state2-text"/>
          <p:cNvSpPr txBox="1"/>
          <p:nvPr/>
        </p:nvSpPr>
        <p:spPr>
          <a:xfrm>
            <a:off x="3987800" y="1854200"/>
            <a:ext cx="190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 spc="100" kern="0">
                <a:solidFill>
                  <a:srgbClr val="FFFFFF"/>
                </a:solidFill>
                <a:latin typeface="Liter"/>
                <a:ea typeface="Liter"/>
              </a:rPr>
              <a:t>VALIDATED</a:t>
            </a:r>
            <a:endParaRPr lang="en-US" sz="1500" noProof="1"/>
          </a:p>
        </p:txBody>
      </p:sp>
      <p:sp>
        <p:nvSpPr>
          <p:cNvPr id="10" name="flow-arrow2"/>
          <p:cNvSpPr txBox="1"/>
          <p:nvPr/>
        </p:nvSpPr>
        <p:spPr>
          <a:xfrm>
            <a:off x="5892800" y="1854200"/>
            <a:ext cx="457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A8A196"/>
                </a:solidFill>
                <a:latin typeface="Liter"/>
                <a:ea typeface="Liter"/>
              </a:rPr>
              <a:t>→</a:t>
            </a:r>
            <a:endParaRPr lang="en-US" sz="1800" noProof="1"/>
          </a:p>
        </p:txBody>
      </p:sp>
      <p:sp>
        <p:nvSpPr>
          <p:cNvPr id="11" name="state3"/>
          <p:cNvSpPr/>
          <p:nvPr/>
        </p:nvSpPr>
        <p:spPr>
          <a:xfrm>
            <a:off x="6350000" y="1854200"/>
            <a:ext cx="1905000" cy="711200"/>
          </a:xfrm>
          <a:prstGeom prst="roundRect">
            <a:avLst>
              <a:gd name="adj" fmla="val 14000"/>
            </a:avLst>
          </a:prstGeom>
          <a:solidFill>
            <a:srgbClr val="666054"/>
          </a:solidFill>
          <a:ln>
            <a:noFill/>
          </a:ln>
        </p:spPr>
      </p:sp>
      <p:sp>
        <p:nvSpPr>
          <p:cNvPr id="12" name="state3-text"/>
          <p:cNvSpPr txBox="1"/>
          <p:nvPr/>
        </p:nvSpPr>
        <p:spPr>
          <a:xfrm>
            <a:off x="6350000" y="1854200"/>
            <a:ext cx="190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 spc="100" kern="0">
                <a:solidFill>
                  <a:srgbClr val="FFFFFF"/>
                </a:solidFill>
                <a:latin typeface="Liter"/>
                <a:ea typeface="Liter"/>
              </a:rPr>
              <a:t>SENT</a:t>
            </a:r>
            <a:endParaRPr lang="en-US" sz="1500" noProof="1"/>
          </a:p>
        </p:txBody>
      </p:sp>
      <p:sp>
        <p:nvSpPr>
          <p:cNvPr id="13" name="flow-arrow3"/>
          <p:cNvSpPr txBox="1"/>
          <p:nvPr/>
        </p:nvSpPr>
        <p:spPr>
          <a:xfrm>
            <a:off x="8255000" y="1854200"/>
            <a:ext cx="457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A8A196"/>
                </a:solidFill>
                <a:latin typeface="Liter"/>
                <a:ea typeface="Liter"/>
              </a:rPr>
              <a:t>→</a:t>
            </a:r>
            <a:endParaRPr lang="en-US" sz="1800" noProof="1"/>
          </a:p>
        </p:txBody>
      </p:sp>
      <p:sp>
        <p:nvSpPr>
          <p:cNvPr id="14" name="state4"/>
          <p:cNvSpPr/>
          <p:nvPr/>
        </p:nvSpPr>
        <p:spPr>
          <a:xfrm>
            <a:off x="8712200" y="1854200"/>
            <a:ext cx="1905000" cy="711200"/>
          </a:xfrm>
          <a:prstGeom prst="roundRect">
            <a:avLst>
              <a:gd name="adj" fmla="val 14000"/>
            </a:avLst>
          </a:prstGeom>
          <a:solidFill>
            <a:srgbClr val="FAF7F1"/>
          </a:solidFill>
          <a:ln w="25400">
            <a:solidFill>
              <a:srgbClr val="171512"/>
            </a:solidFill>
          </a:ln>
        </p:spPr>
      </p:sp>
      <p:sp>
        <p:nvSpPr>
          <p:cNvPr id="15" name="state4-text"/>
          <p:cNvSpPr txBox="1"/>
          <p:nvPr/>
        </p:nvSpPr>
        <p:spPr>
          <a:xfrm>
            <a:off x="8712200" y="1854200"/>
            <a:ext cx="19050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 spc="100" kern="0">
                <a:solidFill>
                  <a:srgbClr val="171512"/>
                </a:solidFill>
                <a:latin typeface="Liter"/>
                <a:ea typeface="Liter"/>
              </a:rPr>
              <a:t>COMPLETED ✓</a:t>
            </a:r>
            <a:endParaRPr lang="en-US" sz="1500" noProof="1"/>
          </a:p>
        </p:txBody>
      </p:sp>
      <p:sp>
        <p:nvSpPr>
          <p:cNvPr id="16" name="fail-box"/>
          <p:cNvSpPr/>
          <p:nvPr/>
        </p:nvSpPr>
        <p:spPr>
          <a:xfrm>
            <a:off x="4191000" y="2844800"/>
            <a:ext cx="3810000" cy="508000"/>
          </a:xfrm>
          <a:prstGeom prst="roundRect">
            <a:avLst>
              <a:gd name="adj" fmla="val 12000"/>
            </a:avLst>
          </a:prstGeom>
          <a:solidFill>
            <a:srgbClr val="F2EDE3"/>
          </a:solidFill>
          <a:ln w="19050">
            <a:solidFill>
              <a:srgbClr val="A8A196"/>
            </a:solidFill>
            <a:prstDash val="dash"/>
          </a:ln>
        </p:spPr>
      </p:sp>
      <p:sp>
        <p:nvSpPr>
          <p:cNvPr id="17" name="fail-text"/>
          <p:cNvSpPr txBox="1"/>
          <p:nvPr/>
        </p:nvSpPr>
        <p:spPr>
          <a:xfrm>
            <a:off x="4191000" y="2844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 b="1">
                <a:solidFill>
                  <a:srgbClr val="171512"/>
                </a:solidFill>
                <a:latin typeface="Liter"/>
                <a:ea typeface="Liter"/>
              </a:rPr>
              <a:t>✕  Any state can transition to FAILED</a:t>
            </a:r>
            <a:endParaRPr lang="en-US" sz="1300" noProof="1"/>
          </a:p>
        </p:txBody>
      </p:sp>
      <p:sp>
        <p:nvSpPr>
          <p:cNvPr id="18" name="card1"/>
          <p:cNvSpPr/>
          <p:nvPr/>
        </p:nvSpPr>
        <p:spPr>
          <a:xfrm>
            <a:off x="812800" y="3810000"/>
            <a:ext cx="5130800" cy="2082800"/>
          </a:xfrm>
          <a:prstGeom prst="roundRect">
            <a:avLst>
              <a:gd name="adj" fmla="val 6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19" name="card1-bar"/>
          <p:cNvSpPr/>
          <p:nvPr/>
        </p:nvSpPr>
        <p:spPr>
          <a:xfrm>
            <a:off x="812800" y="3810000"/>
            <a:ext cx="5130800" cy="50800"/>
          </a:xfrm>
          <a:prstGeom prst="rect">
            <a:avLst/>
          </a:prstGeom>
          <a:solidFill>
            <a:srgbClr val="171512"/>
          </a:solidFill>
          <a:ln>
            <a:noFill/>
          </a:ln>
        </p:spPr>
      </p:sp>
      <p:sp>
        <p:nvSpPr>
          <p:cNvPr id="20" name="card1-title"/>
          <p:cNvSpPr txBox="1"/>
          <p:nvPr/>
        </p:nvSpPr>
        <p:spPr>
          <a:xfrm>
            <a:off x="1168400" y="40894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171512"/>
                </a:solidFill>
                <a:latin typeface="Liter"/>
                <a:ea typeface="Liter"/>
              </a:rPr>
              <a:t>Auto-Progression</a:t>
            </a:r>
            <a:endParaRPr lang="en-US" sz="1700" noProof="1"/>
          </a:p>
        </p:txBody>
      </p:sp>
      <p:sp>
        <p:nvSpPr>
          <p:cNvPr id="21" name="card1-body"/>
          <p:cNvSpPr txBox="1"/>
          <p:nvPr/>
        </p:nvSpPr>
        <p:spPr>
          <a:xfrm>
            <a:off x="1168400" y="4470400"/>
            <a:ext cx="44196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Scheduler advances each state every 15 minutes. SENT → COMPLETED (90%) or FAILED (10%).</a:t>
            </a:r>
            <a:endParaRPr lang="en-US" sz="1300" noProof="1"/>
          </a:p>
        </p:txBody>
      </p:sp>
      <p:sp>
        <p:nvSpPr>
          <p:cNvPr id="22" name="card2"/>
          <p:cNvSpPr/>
          <p:nvPr/>
        </p:nvSpPr>
        <p:spPr>
          <a:xfrm>
            <a:off x="6248400" y="3810000"/>
            <a:ext cx="5130800" cy="2082800"/>
          </a:xfrm>
          <a:prstGeom prst="roundRect">
            <a:avLst>
              <a:gd name="adj" fmla="val 6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23" name="card2-bar"/>
          <p:cNvSpPr/>
          <p:nvPr/>
        </p:nvSpPr>
        <p:spPr>
          <a:xfrm>
            <a:off x="6248400" y="3810000"/>
            <a:ext cx="5130800" cy="50800"/>
          </a:xfrm>
          <a:prstGeom prst="rect">
            <a:avLst/>
          </a:prstGeom>
          <a:solidFill>
            <a:srgbClr val="171512"/>
          </a:solidFill>
          <a:ln>
            <a:noFill/>
          </a:ln>
        </p:spPr>
      </p:sp>
      <p:sp>
        <p:nvSpPr>
          <p:cNvPr id="24" name="card2-title"/>
          <p:cNvSpPr txBox="1"/>
          <p:nvPr/>
        </p:nvSpPr>
        <p:spPr>
          <a:xfrm>
            <a:off x="6604000" y="4089400"/>
            <a:ext cx="44196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700" noProof="1" b="1">
                <a:solidFill>
                  <a:srgbClr val="171512"/>
                </a:solidFill>
                <a:latin typeface="Liter"/>
                <a:ea typeface="Liter"/>
              </a:rPr>
              <a:t>Manual Override</a:t>
            </a:r>
            <a:endParaRPr lang="en-US" sz="1700" noProof="1"/>
          </a:p>
        </p:txBody>
      </p:sp>
      <p:sp>
        <p:nvSpPr>
          <p:cNvPr id="25" name="card2-body"/>
          <p:cNvSpPr txBox="1"/>
          <p:nvPr/>
        </p:nvSpPr>
        <p:spPr>
          <a:xfrm>
            <a:off x="6604000" y="4470400"/>
            <a:ext cx="4419600" cy="1168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Demo APIs allow manual validate / send / complete / fail for presentation and testing.</a:t>
            </a:r>
            <a:endParaRPr lang="en-US" sz="1300" noProof="1"/>
          </a:p>
        </p:txBody>
      </p:sp>
      <p:sp>
        <p:nvSpPr>
          <p:cNvPr id="26" name="rule-bottom"/>
          <p:cNvSpPr/>
          <p:nvPr/>
        </p:nvSpPr>
        <p:spPr>
          <a:xfrm>
            <a:off x="812800" y="6350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27" name="footer-left"/>
          <p:cNvSpPr txBox="1"/>
          <p:nvPr/>
        </p:nvSpPr>
        <p:spPr>
          <a:xfrm>
            <a:off x="8128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PAYMENT PROCESSING SYSTEM</a:t>
            </a:r>
            <a:endParaRPr lang="en-US" sz="900" noProof="1"/>
          </a:p>
        </p:txBody>
      </p:sp>
      <p:sp>
        <p:nvSpPr>
          <p:cNvPr id="28" name="footer-right"/>
          <p:cNvSpPr txBox="1"/>
          <p:nvPr/>
        </p:nvSpPr>
        <p:spPr>
          <a:xfrm>
            <a:off x="75692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05 / 10</a:t>
            </a:r>
            <a:endParaRPr lang="en-US" sz="900" noProof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1" animBg="1"/>
      <p:bldP spid="11" grpId="2" animBg="1"/>
      <p:bldP spid="14" grpId="3" animBg="1"/>
      <p:bldP spid="16" grpId="4" animBg="1"/>
    </p:bldLst>
  </p:timing>
</p:sld>
</file>

<file path=ppt/slides/slide6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6E6A61"/>
                </a:solidFill>
                <a:latin typeface="Liter"/>
                <a:ea typeface="Liter"/>
              </a:rPr>
              <a:t>05 / API DESIGN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171512"/>
                </a:solidFill>
                <a:latin typeface="Oranienbaum"/>
                <a:ea typeface="Oranienbaum"/>
              </a:rPr>
              <a:t>REST Endpoints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5" name="row1"/>
          <p:cNvSpPr/>
          <p:nvPr/>
        </p:nvSpPr>
        <p:spPr>
          <a:xfrm>
            <a:off x="812800" y="1651000"/>
            <a:ext cx="10566400" cy="787400"/>
          </a:xfrm>
          <a:prstGeom prst="roundRect">
            <a:avLst>
              <a:gd name="adj" fmla="val 10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6" name="row1-badge"/>
          <p:cNvSpPr/>
          <p:nvPr/>
        </p:nvSpPr>
        <p:spPr>
          <a:xfrm>
            <a:off x="1117600" y="1879600"/>
            <a:ext cx="711200" cy="330200"/>
          </a:xfrm>
          <a:prstGeom prst="roundRect">
            <a:avLst>
              <a:gd name="adj" fmla="val 16000"/>
            </a:avLst>
          </a:prstGeom>
          <a:solidFill>
            <a:srgbClr val="171512"/>
          </a:solidFill>
          <a:ln>
            <a:noFill/>
          </a:ln>
        </p:spPr>
      </p:sp>
      <p:sp>
        <p:nvSpPr>
          <p:cNvPr id="7" name="row1-badge-text"/>
          <p:cNvSpPr txBox="1"/>
          <p:nvPr/>
        </p:nvSpPr>
        <p:spPr>
          <a:xfrm>
            <a:off x="1117600" y="18796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FFFFFF"/>
                </a:solidFill>
                <a:latin typeface="Liter"/>
                <a:ea typeface="Liter"/>
              </a:rPr>
              <a:t>POST</a:t>
            </a:r>
            <a:endParaRPr lang="en-US" sz="1100" noProof="1"/>
          </a:p>
        </p:txBody>
      </p:sp>
      <p:sp>
        <p:nvSpPr>
          <p:cNvPr id="8" name="row1-path"/>
          <p:cNvSpPr txBox="1"/>
          <p:nvPr/>
        </p:nvSpPr>
        <p:spPr>
          <a:xfrm>
            <a:off x="2082800" y="16510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171512"/>
                </a:solidFill>
                <a:latin typeface="Liter"/>
                <a:ea typeface="Liter"/>
              </a:rPr>
              <a:t>/api/payments</a:t>
            </a:r>
            <a:endParaRPr lang="en-US" sz="1400" noProof="1"/>
          </a:p>
        </p:txBody>
      </p:sp>
      <p:sp>
        <p:nvSpPr>
          <p:cNvPr id="9" name="row1-desc"/>
          <p:cNvSpPr txBox="1"/>
          <p:nvPr/>
        </p:nvSpPr>
        <p:spPr>
          <a:xfrm>
            <a:off x="7416800" y="1651000"/>
            <a:ext cx="3657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Liter"/>
                <a:ea typeface="Liter"/>
              </a:rPr>
              <a:t>Create (Idempotency-Key header)</a:t>
            </a:r>
            <a:endParaRPr lang="en-US" sz="1200" noProof="1"/>
          </a:p>
        </p:txBody>
      </p:sp>
      <p:sp>
        <p:nvSpPr>
          <p:cNvPr id="10" name="row2"/>
          <p:cNvSpPr/>
          <p:nvPr/>
        </p:nvSpPr>
        <p:spPr>
          <a:xfrm>
            <a:off x="812800" y="2540000"/>
            <a:ext cx="10566400" cy="787400"/>
          </a:xfrm>
          <a:prstGeom prst="roundRect">
            <a:avLst>
              <a:gd name="adj" fmla="val 10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11" name="row2-badge"/>
          <p:cNvSpPr/>
          <p:nvPr/>
        </p:nvSpPr>
        <p:spPr>
          <a:xfrm>
            <a:off x="1117600" y="2768600"/>
            <a:ext cx="711200" cy="330200"/>
          </a:xfrm>
          <a:prstGeom prst="roundRect">
            <a:avLst>
              <a:gd name="adj" fmla="val 16000"/>
            </a:avLst>
          </a:prstGeom>
          <a:solidFill>
            <a:srgbClr val="FAF7F1"/>
          </a:solidFill>
          <a:ln w="19050">
            <a:solidFill>
              <a:srgbClr val="171512"/>
            </a:solidFill>
          </a:ln>
        </p:spPr>
      </p:sp>
      <p:sp>
        <p:nvSpPr>
          <p:cNvPr id="12" name="row2-badge-text"/>
          <p:cNvSpPr txBox="1"/>
          <p:nvPr/>
        </p:nvSpPr>
        <p:spPr>
          <a:xfrm>
            <a:off x="1117600" y="27686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71512"/>
                </a:solidFill>
                <a:latin typeface="Liter"/>
                <a:ea typeface="Liter"/>
              </a:rPr>
              <a:t>GET</a:t>
            </a:r>
            <a:endParaRPr lang="en-US" sz="1100" noProof="1"/>
          </a:p>
        </p:txBody>
      </p:sp>
      <p:sp>
        <p:nvSpPr>
          <p:cNvPr id="13" name="row2-path"/>
          <p:cNvSpPr txBox="1"/>
          <p:nvPr/>
        </p:nvSpPr>
        <p:spPr>
          <a:xfrm>
            <a:off x="2082800" y="25400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171512"/>
                </a:solidFill>
                <a:latin typeface="Liter"/>
                <a:ea typeface="Liter"/>
              </a:rPr>
              <a:t>/api/payments/{id}</a:t>
            </a:r>
            <a:endParaRPr lang="en-US" sz="1400" noProof="1"/>
          </a:p>
        </p:txBody>
      </p:sp>
      <p:sp>
        <p:nvSpPr>
          <p:cNvPr id="14" name="row2-desc"/>
          <p:cNvSpPr txBox="1"/>
          <p:nvPr/>
        </p:nvSpPr>
        <p:spPr>
          <a:xfrm>
            <a:off x="7416800" y="2540000"/>
            <a:ext cx="3657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Liter"/>
                <a:ea typeface="Liter"/>
              </a:rPr>
              <a:t>Get details</a:t>
            </a:r>
            <a:endParaRPr lang="en-US" sz="1200" noProof="1"/>
          </a:p>
        </p:txBody>
      </p:sp>
      <p:sp>
        <p:nvSpPr>
          <p:cNvPr id="15" name="row3"/>
          <p:cNvSpPr/>
          <p:nvPr/>
        </p:nvSpPr>
        <p:spPr>
          <a:xfrm>
            <a:off x="812800" y="3429000"/>
            <a:ext cx="10566400" cy="787400"/>
          </a:xfrm>
          <a:prstGeom prst="roundRect">
            <a:avLst>
              <a:gd name="adj" fmla="val 10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16" name="row3-badge"/>
          <p:cNvSpPr/>
          <p:nvPr/>
        </p:nvSpPr>
        <p:spPr>
          <a:xfrm>
            <a:off x="1117600" y="3657600"/>
            <a:ext cx="711200" cy="330200"/>
          </a:xfrm>
          <a:prstGeom prst="roundRect">
            <a:avLst>
              <a:gd name="adj" fmla="val 16000"/>
            </a:avLst>
          </a:prstGeom>
          <a:solidFill>
            <a:srgbClr val="FAF7F1"/>
          </a:solidFill>
          <a:ln w="19050">
            <a:solidFill>
              <a:srgbClr val="171512"/>
            </a:solidFill>
          </a:ln>
        </p:spPr>
      </p:sp>
      <p:sp>
        <p:nvSpPr>
          <p:cNvPr id="17" name="row3-badge-text"/>
          <p:cNvSpPr txBox="1"/>
          <p:nvPr/>
        </p:nvSpPr>
        <p:spPr>
          <a:xfrm>
            <a:off x="1117600" y="36576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71512"/>
                </a:solidFill>
                <a:latin typeface="Liter"/>
                <a:ea typeface="Liter"/>
              </a:rPr>
              <a:t>GET</a:t>
            </a:r>
            <a:endParaRPr lang="en-US" sz="1100" noProof="1"/>
          </a:p>
        </p:txBody>
      </p:sp>
      <p:sp>
        <p:nvSpPr>
          <p:cNvPr id="18" name="row3-path"/>
          <p:cNvSpPr txBox="1"/>
          <p:nvPr/>
        </p:nvSpPr>
        <p:spPr>
          <a:xfrm>
            <a:off x="2082800" y="34290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171512"/>
                </a:solidFill>
                <a:latin typeface="Liter"/>
                <a:ea typeface="Liter"/>
              </a:rPr>
              <a:t>/api/payments?status=&amp;page=&amp;size=</a:t>
            </a:r>
            <a:endParaRPr lang="en-US" sz="1400" noProof="1"/>
          </a:p>
        </p:txBody>
      </p:sp>
      <p:sp>
        <p:nvSpPr>
          <p:cNvPr id="19" name="row3-desc"/>
          <p:cNvSpPr txBox="1"/>
          <p:nvPr/>
        </p:nvSpPr>
        <p:spPr>
          <a:xfrm>
            <a:off x="7416800" y="3429000"/>
            <a:ext cx="3657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Liter"/>
                <a:ea typeface="Liter"/>
              </a:rPr>
              <a:t>List + filter + paginate</a:t>
            </a:r>
            <a:endParaRPr lang="en-US" sz="1200" noProof="1"/>
          </a:p>
        </p:txBody>
      </p:sp>
      <p:sp>
        <p:nvSpPr>
          <p:cNvPr id="20" name="row4"/>
          <p:cNvSpPr/>
          <p:nvPr/>
        </p:nvSpPr>
        <p:spPr>
          <a:xfrm>
            <a:off x="812800" y="4318000"/>
            <a:ext cx="10566400" cy="787400"/>
          </a:xfrm>
          <a:prstGeom prst="roundRect">
            <a:avLst>
              <a:gd name="adj" fmla="val 10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21" name="row4-badge"/>
          <p:cNvSpPr/>
          <p:nvPr/>
        </p:nvSpPr>
        <p:spPr>
          <a:xfrm>
            <a:off x="1117600" y="4546600"/>
            <a:ext cx="711200" cy="330200"/>
          </a:xfrm>
          <a:prstGeom prst="roundRect">
            <a:avLst>
              <a:gd name="adj" fmla="val 16000"/>
            </a:avLst>
          </a:prstGeom>
          <a:solidFill>
            <a:srgbClr val="FAF7F1"/>
          </a:solidFill>
          <a:ln w="19050">
            <a:solidFill>
              <a:srgbClr val="171512"/>
            </a:solidFill>
          </a:ln>
        </p:spPr>
      </p:sp>
      <p:sp>
        <p:nvSpPr>
          <p:cNvPr id="22" name="row4-badge-text"/>
          <p:cNvSpPr txBox="1"/>
          <p:nvPr/>
        </p:nvSpPr>
        <p:spPr>
          <a:xfrm>
            <a:off x="1117600" y="45466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171512"/>
                </a:solidFill>
                <a:latin typeface="Liter"/>
                <a:ea typeface="Liter"/>
              </a:rPr>
              <a:t>GET</a:t>
            </a:r>
            <a:endParaRPr lang="en-US" sz="1100" noProof="1"/>
          </a:p>
        </p:txBody>
      </p:sp>
      <p:sp>
        <p:nvSpPr>
          <p:cNvPr id="23" name="row4-path"/>
          <p:cNvSpPr txBox="1"/>
          <p:nvPr/>
        </p:nvSpPr>
        <p:spPr>
          <a:xfrm>
            <a:off x="2082800" y="43180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171512"/>
                </a:solidFill>
                <a:latin typeface="Liter"/>
                <a:ea typeface="Liter"/>
              </a:rPr>
              <a:t>/api/payments/{id}/history</a:t>
            </a:r>
            <a:endParaRPr lang="en-US" sz="1400" noProof="1"/>
          </a:p>
        </p:txBody>
      </p:sp>
      <p:sp>
        <p:nvSpPr>
          <p:cNvPr id="24" name="row4-desc"/>
          <p:cNvSpPr txBox="1"/>
          <p:nvPr/>
        </p:nvSpPr>
        <p:spPr>
          <a:xfrm>
            <a:off x="7416800" y="4318000"/>
            <a:ext cx="3657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Liter"/>
                <a:ea typeface="Liter"/>
              </a:rPr>
              <a:t>Audit trail</a:t>
            </a:r>
            <a:endParaRPr lang="en-US" sz="1200" noProof="1"/>
          </a:p>
        </p:txBody>
      </p:sp>
      <p:sp>
        <p:nvSpPr>
          <p:cNvPr id="25" name="row5"/>
          <p:cNvSpPr/>
          <p:nvPr/>
        </p:nvSpPr>
        <p:spPr>
          <a:xfrm>
            <a:off x="812800" y="5207000"/>
            <a:ext cx="10566400" cy="787400"/>
          </a:xfrm>
          <a:prstGeom prst="roundRect">
            <a:avLst>
              <a:gd name="adj" fmla="val 10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26" name="row5-badge"/>
          <p:cNvSpPr/>
          <p:nvPr/>
        </p:nvSpPr>
        <p:spPr>
          <a:xfrm>
            <a:off x="1117600" y="5435600"/>
            <a:ext cx="711200" cy="330200"/>
          </a:xfrm>
          <a:prstGeom prst="roundRect">
            <a:avLst>
              <a:gd name="adj" fmla="val 16000"/>
            </a:avLst>
          </a:prstGeom>
          <a:solidFill>
            <a:srgbClr val="171512"/>
          </a:solidFill>
          <a:ln>
            <a:noFill/>
          </a:ln>
        </p:spPr>
      </p:sp>
      <p:sp>
        <p:nvSpPr>
          <p:cNvPr id="27" name="row5-badge-text"/>
          <p:cNvSpPr txBox="1"/>
          <p:nvPr/>
        </p:nvSpPr>
        <p:spPr>
          <a:xfrm>
            <a:off x="1117600" y="5435600"/>
            <a:ext cx="711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>
                <a:solidFill>
                  <a:srgbClr val="FFFFFF"/>
                </a:solidFill>
                <a:latin typeface="Liter"/>
                <a:ea typeface="Liter"/>
              </a:rPr>
              <a:t>POST</a:t>
            </a:r>
            <a:endParaRPr lang="en-US" sz="1100" noProof="1"/>
          </a:p>
        </p:txBody>
      </p:sp>
      <p:sp>
        <p:nvSpPr>
          <p:cNvPr id="28" name="row5-path"/>
          <p:cNvSpPr txBox="1"/>
          <p:nvPr/>
        </p:nvSpPr>
        <p:spPr>
          <a:xfrm>
            <a:off x="2082800" y="5207000"/>
            <a:ext cx="5334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00" noProof="1" b="1">
                <a:solidFill>
                  <a:srgbClr val="171512"/>
                </a:solidFill>
                <a:latin typeface="Liter"/>
                <a:ea typeface="Liter"/>
              </a:rPr>
              <a:t>/api/payments/{id}/validate|send|complete|fail</a:t>
            </a:r>
            <a:endParaRPr lang="en-US" sz="1400" noProof="1"/>
          </a:p>
        </p:txBody>
      </p:sp>
      <p:sp>
        <p:nvSpPr>
          <p:cNvPr id="29" name="row5-desc"/>
          <p:cNvSpPr txBox="1"/>
          <p:nvPr/>
        </p:nvSpPr>
        <p:spPr>
          <a:xfrm>
            <a:off x="7416800" y="5207000"/>
            <a:ext cx="3657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200" noProof="1">
                <a:solidFill>
                  <a:srgbClr val="6E6A61"/>
                </a:solidFill>
                <a:latin typeface="Liter"/>
                <a:ea typeface="Liter"/>
              </a:rPr>
              <a:t>Manual state push (demo)</a:t>
            </a:r>
            <a:endParaRPr lang="en-US" sz="1200" noProof="1"/>
          </a:p>
        </p:txBody>
      </p:sp>
      <p:sp>
        <p:nvSpPr>
          <p:cNvPr id="30" name="rule-bottom"/>
          <p:cNvSpPr/>
          <p:nvPr/>
        </p:nvSpPr>
        <p:spPr>
          <a:xfrm>
            <a:off x="812800" y="6350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31" name="footer-left"/>
          <p:cNvSpPr txBox="1"/>
          <p:nvPr/>
        </p:nvSpPr>
        <p:spPr>
          <a:xfrm>
            <a:off x="8128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PAYMENT PROCESSING SYSTEM</a:t>
            </a:r>
            <a:endParaRPr lang="en-US" sz="900" noProof="1"/>
          </a:p>
        </p:txBody>
      </p:sp>
      <p:sp>
        <p:nvSpPr>
          <p:cNvPr id="32" name="footer-right"/>
          <p:cNvSpPr txBox="1"/>
          <p:nvPr/>
        </p:nvSpPr>
        <p:spPr>
          <a:xfrm>
            <a:off x="75692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06 / 10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6E6A61"/>
                </a:solidFill>
                <a:latin typeface="Liter"/>
                <a:ea typeface="Liter"/>
              </a:rPr>
              <a:t>06 / KEY MECHANISMS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171512"/>
                </a:solidFill>
                <a:latin typeface="Oranienbaum"/>
                <a:ea typeface="Oranienbaum"/>
              </a:rPr>
              <a:t>Idempotency &amp; Timeout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5" name="card1"/>
          <p:cNvSpPr/>
          <p:nvPr/>
        </p:nvSpPr>
        <p:spPr>
          <a:xfrm>
            <a:off x="812800" y="1701800"/>
            <a:ext cx="5130800" cy="4368800"/>
          </a:xfrm>
          <a:prstGeom prst="roundRect">
            <a:avLst>
              <a:gd name="adj" fmla="val 4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6" name="card1-bar"/>
          <p:cNvSpPr/>
          <p:nvPr/>
        </p:nvSpPr>
        <p:spPr>
          <a:xfrm>
            <a:off x="812800" y="1701800"/>
            <a:ext cx="5130800" cy="50800"/>
          </a:xfrm>
          <a:prstGeom prst="rect">
            <a:avLst/>
          </a:prstGeom>
          <a:solidFill>
            <a:srgbClr val="171512"/>
          </a:solidFill>
          <a:ln>
            <a:noFill/>
          </a:ln>
        </p:spPr>
      </p:sp>
      <p:sp>
        <p:nvSpPr>
          <p:cNvPr id="7" name="card1-title"/>
          <p:cNvSpPr txBox="1"/>
          <p:nvPr/>
        </p:nvSpPr>
        <p:spPr>
          <a:xfrm>
            <a:off x="1168400" y="2032000"/>
            <a:ext cx="441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171512"/>
                </a:solidFill>
                <a:latin typeface="Oranienbaum"/>
                <a:ea typeface="Oranienbaum"/>
              </a:rPr>
              <a:t>Idempotency</a:t>
            </a:r>
            <a:endParaRPr lang="en-US" sz="2200" noProof="1"/>
          </a:p>
        </p:txBody>
      </p:sp>
      <p:sp>
        <p:nvSpPr>
          <p:cNvPr id="8" name="card1-rule"/>
          <p:cNvSpPr/>
          <p:nvPr/>
        </p:nvSpPr>
        <p:spPr>
          <a:xfrm>
            <a:off x="1168400" y="2514600"/>
            <a:ext cx="44196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9" name="card1-body"/>
          <p:cNvSpPr txBox="1"/>
          <p:nvPr/>
        </p:nvSpPr>
        <p:spPr>
          <a:xfrm>
            <a:off x="1168400" y="2717800"/>
            <a:ext cx="44196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• Client sends </a:t>
            </a:r>
            <a:r>
              <a:rPr lang="en-US" sz="1300" noProof="1" b="1">
                <a:solidFill>
                  <a:srgbClr val="6E6A61"/>
                </a:solidFill>
                <a:latin typeface="Liter"/>
                <a:ea typeface="Liter"/>
              </a:rPr>
              <a:t>Idempotency-Key</a:t>
            </a: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 header</a:t>
            </a:r>
            <a:endParaRPr lang="en-US" sz="1300" noProof="1"/>
          </a:p>
          <a:p>
            <a:pPr algn="l">
              <a:lnSpc>
                <a:spcPct val="190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• Same key + same body → </a:t>
            </a:r>
            <a:r>
              <a:rPr lang="en-US" sz="1300" noProof="1" b="1">
                <a:solidFill>
                  <a:srgbClr val="171512"/>
                </a:solidFill>
                <a:latin typeface="Liter"/>
                <a:ea typeface="Liter"/>
              </a:rPr>
              <a:t>200 OK</a:t>
            </a:r>
            <a:endParaRPr lang="en-US" sz="1300" noProof="1"/>
          </a:p>
          <a:p>
            <a:pPr algn="l">
              <a:lnSpc>
                <a:spcPct val="190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• Same key + diff body → </a:t>
            </a:r>
            <a:r>
              <a:rPr lang="en-US" sz="1300" noProof="1" b="1">
                <a:solidFill>
                  <a:srgbClr val="171512"/>
                </a:solidFill>
                <a:latin typeface="Liter"/>
                <a:ea typeface="Liter"/>
              </a:rPr>
              <a:t>409 Conflict</a:t>
            </a:r>
            <a:endParaRPr lang="en-US" sz="1300" noProof="1"/>
          </a:p>
          <a:p>
            <a:pPr algn="l">
              <a:lnSpc>
                <a:spcPct val="190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• Enforced by DB UNIQUE constraint</a:t>
            </a:r>
            <a:endParaRPr lang="en-US" sz="1300" noProof="1"/>
          </a:p>
        </p:txBody>
      </p:sp>
      <p:sp>
        <p:nvSpPr>
          <p:cNvPr id="10" name="card2"/>
          <p:cNvSpPr/>
          <p:nvPr/>
        </p:nvSpPr>
        <p:spPr>
          <a:xfrm>
            <a:off x="6248400" y="1701800"/>
            <a:ext cx="5130800" cy="4368800"/>
          </a:xfrm>
          <a:prstGeom prst="roundRect">
            <a:avLst>
              <a:gd name="adj" fmla="val 4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11" name="card2-bar"/>
          <p:cNvSpPr/>
          <p:nvPr/>
        </p:nvSpPr>
        <p:spPr>
          <a:xfrm>
            <a:off x="6248400" y="1701800"/>
            <a:ext cx="5130800" cy="50800"/>
          </a:xfrm>
          <a:prstGeom prst="rect">
            <a:avLst/>
          </a:prstGeom>
          <a:solidFill>
            <a:srgbClr val="171512"/>
          </a:solidFill>
          <a:ln>
            <a:noFill/>
          </a:ln>
        </p:spPr>
      </p:sp>
      <p:sp>
        <p:nvSpPr>
          <p:cNvPr id="12" name="card2-title"/>
          <p:cNvSpPr txBox="1"/>
          <p:nvPr/>
        </p:nvSpPr>
        <p:spPr>
          <a:xfrm>
            <a:off x="6604000" y="2032000"/>
            <a:ext cx="441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>
                <a:solidFill>
                  <a:srgbClr val="171512"/>
                </a:solidFill>
                <a:latin typeface="Oranienbaum"/>
                <a:ea typeface="Oranienbaum"/>
              </a:rPr>
              <a:t>15-Min Timeout</a:t>
            </a:r>
            <a:endParaRPr lang="en-US" sz="2200" noProof="1"/>
          </a:p>
        </p:txBody>
      </p:sp>
      <p:sp>
        <p:nvSpPr>
          <p:cNvPr id="13" name="card2-rule"/>
          <p:cNvSpPr/>
          <p:nvPr/>
        </p:nvSpPr>
        <p:spPr>
          <a:xfrm>
            <a:off x="6604000" y="2514600"/>
            <a:ext cx="44196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14" name="card2-body"/>
          <p:cNvSpPr txBox="1"/>
          <p:nvPr/>
        </p:nvSpPr>
        <p:spPr>
          <a:xfrm>
            <a:off x="6604000" y="2717800"/>
            <a:ext cx="4419600" cy="304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90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• Scheduler runs every </a:t>
            </a:r>
            <a:r>
              <a:rPr lang="en-US" sz="1300" noProof="1" b="1">
                <a:solidFill>
                  <a:srgbClr val="171512"/>
                </a:solidFill>
                <a:latin typeface="Liter"/>
                <a:ea typeface="Liter"/>
              </a:rPr>
              <a:t>60s</a:t>
            </a:r>
            <a:endParaRPr lang="en-US" sz="1300" noProof="1"/>
          </a:p>
          <a:p>
            <a:pPr algn="l">
              <a:lnSpc>
                <a:spcPct val="190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• CREATED → VALIDATED → SENT → COMPLETED</a:t>
            </a:r>
            <a:endParaRPr lang="en-US" sz="1300" noProof="1"/>
          </a:p>
          <a:p>
            <a:pPr algn="l">
              <a:lnSpc>
                <a:spcPct val="190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• 10% random failure at SENT stage</a:t>
            </a:r>
            <a:endParaRPr lang="en-US" sz="1300" noProof="1"/>
          </a:p>
          <a:p>
            <a:pPr algn="l">
              <a:lnSpc>
                <a:spcPct val="190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• Configurable via </a:t>
            </a:r>
            <a:r>
              <a:rPr lang="en-US" sz="1300" noProof="1" b="1">
                <a:solidFill>
                  <a:srgbClr val="6E6A61"/>
                </a:solidFill>
                <a:latin typeface="Liter"/>
                <a:ea typeface="Liter"/>
              </a:rPr>
              <a:t>application.yml</a:t>
            </a:r>
            <a:endParaRPr lang="en-US" sz="1300" noProof="1"/>
          </a:p>
        </p:txBody>
      </p:sp>
      <p:sp>
        <p:nvSpPr>
          <p:cNvPr id="15" name="rule-bottom"/>
          <p:cNvSpPr/>
          <p:nvPr/>
        </p:nvSpPr>
        <p:spPr>
          <a:xfrm>
            <a:off x="812800" y="6350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8128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PAYMENT PROCESSING SYSTEM</a:t>
            </a:r>
            <a:endParaRPr lang="en-US" sz="900" noProof="1"/>
          </a:p>
        </p:txBody>
      </p:sp>
      <p:sp>
        <p:nvSpPr>
          <p:cNvPr id="17" name="footer-right"/>
          <p:cNvSpPr txBox="1"/>
          <p:nvPr/>
        </p:nvSpPr>
        <p:spPr>
          <a:xfrm>
            <a:off x="75692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07 / 10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6E6A61"/>
                </a:solidFill>
                <a:latin typeface="Liter"/>
                <a:ea typeface="Liter"/>
              </a:rPr>
              <a:t>07 / TEAM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171512"/>
                </a:solidFill>
                <a:latin typeface="Oranienbaum"/>
                <a:ea typeface="Oranienbaum"/>
              </a:rPr>
              <a:t>Vertical Slice Division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5" name="card1"/>
          <p:cNvSpPr/>
          <p:nvPr/>
        </p:nvSpPr>
        <p:spPr>
          <a:xfrm>
            <a:off x="812800" y="1701800"/>
            <a:ext cx="5130800" cy="2006600"/>
          </a:xfrm>
          <a:prstGeom prst="roundRect">
            <a:avLst>
              <a:gd name="adj" fmla="val 6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6" name="card1-bar"/>
          <p:cNvSpPr/>
          <p:nvPr/>
        </p:nvSpPr>
        <p:spPr>
          <a:xfrm>
            <a:off x="812800" y="1701800"/>
            <a:ext cx="50800" cy="2006600"/>
          </a:xfrm>
          <a:prstGeom prst="rect">
            <a:avLst/>
          </a:prstGeom>
          <a:solidFill>
            <a:srgbClr val="171512"/>
          </a:solidFill>
          <a:ln>
            <a:noFill/>
          </a:ln>
        </p:spPr>
      </p:sp>
      <p:sp>
        <p:nvSpPr>
          <p:cNvPr id="7" name="card1-tag"/>
          <p:cNvSpPr txBox="1"/>
          <p:nvPr/>
        </p:nvSpPr>
        <p:spPr>
          <a:xfrm>
            <a:off x="1168400" y="19304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71512"/>
                </a:solidFill>
                <a:latin typeface="Oranienbaum"/>
                <a:ea typeface="Oranienbaum"/>
              </a:rPr>
              <a:t>A</a:t>
            </a:r>
            <a:endParaRPr lang="en-US" sz="2000" noProof="1"/>
          </a:p>
        </p:txBody>
      </p:sp>
      <p:sp>
        <p:nvSpPr>
          <p:cNvPr id="8" name="card1-title"/>
          <p:cNvSpPr txBox="1"/>
          <p:nvPr/>
        </p:nvSpPr>
        <p:spPr>
          <a:xfrm>
            <a:off x="1600200" y="1930400"/>
            <a:ext cx="3987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171512"/>
                </a:solidFill>
                <a:latin typeface="Liter"/>
                <a:ea typeface="Liter"/>
              </a:rPr>
              <a:t>Create &amp; Idempotency</a:t>
            </a:r>
            <a:endParaRPr lang="en-US" sz="1500" noProof="1"/>
          </a:p>
        </p:txBody>
      </p:sp>
      <p:sp>
        <p:nvSpPr>
          <p:cNvPr id="9" name="card1-body"/>
          <p:cNvSpPr txBox="1"/>
          <p:nvPr/>
        </p:nvSpPr>
        <p:spPr>
          <a:xfrm>
            <a:off x="1168400" y="2336800"/>
            <a:ext cx="4419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POST /api/payments, validation rules, duplicate-key handling, create-payment UI.</a:t>
            </a:r>
            <a:endParaRPr lang="en-US" sz="1300" noProof="1"/>
          </a:p>
        </p:txBody>
      </p:sp>
      <p:sp>
        <p:nvSpPr>
          <p:cNvPr id="10" name="card2"/>
          <p:cNvSpPr/>
          <p:nvPr/>
        </p:nvSpPr>
        <p:spPr>
          <a:xfrm>
            <a:off x="6248400" y="1701800"/>
            <a:ext cx="5130800" cy="2006600"/>
          </a:xfrm>
          <a:prstGeom prst="roundRect">
            <a:avLst>
              <a:gd name="adj" fmla="val 6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11" name="card2-bar"/>
          <p:cNvSpPr/>
          <p:nvPr/>
        </p:nvSpPr>
        <p:spPr>
          <a:xfrm>
            <a:off x="6248400" y="1701800"/>
            <a:ext cx="50800" cy="2006600"/>
          </a:xfrm>
          <a:prstGeom prst="rect">
            <a:avLst/>
          </a:prstGeom>
          <a:solidFill>
            <a:srgbClr val="3E3A33"/>
          </a:solidFill>
          <a:ln>
            <a:noFill/>
          </a:ln>
        </p:spPr>
      </p:sp>
      <p:sp>
        <p:nvSpPr>
          <p:cNvPr id="12" name="card2-tag"/>
          <p:cNvSpPr txBox="1"/>
          <p:nvPr/>
        </p:nvSpPr>
        <p:spPr>
          <a:xfrm>
            <a:off x="6604000" y="19304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3E3A33"/>
                </a:solidFill>
                <a:latin typeface="Oranienbaum"/>
                <a:ea typeface="Oranienbaum"/>
              </a:rPr>
              <a:t>B</a:t>
            </a:r>
            <a:endParaRPr lang="en-US" sz="2000" noProof="1"/>
          </a:p>
        </p:txBody>
      </p:sp>
      <p:sp>
        <p:nvSpPr>
          <p:cNvPr id="13" name="card2-title"/>
          <p:cNvSpPr txBox="1"/>
          <p:nvPr/>
        </p:nvSpPr>
        <p:spPr>
          <a:xfrm>
            <a:off x="7035800" y="1930400"/>
            <a:ext cx="3987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171512"/>
                </a:solidFill>
                <a:latin typeface="Liter"/>
                <a:ea typeface="Liter"/>
              </a:rPr>
              <a:t>State Machine &amp; Flow</a:t>
            </a:r>
            <a:endParaRPr lang="en-US" sz="1500" noProof="1"/>
          </a:p>
        </p:txBody>
      </p:sp>
      <p:sp>
        <p:nvSpPr>
          <p:cNvPr id="14" name="card2-body"/>
          <p:cNvSpPr txBox="1"/>
          <p:nvPr/>
        </p:nvSpPr>
        <p:spPr>
          <a:xfrm>
            <a:off x="6604000" y="2336800"/>
            <a:ext cx="4419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State transitions, manual push APIs, detail page with status display &amp; action buttons.</a:t>
            </a:r>
            <a:endParaRPr lang="en-US" sz="1300" noProof="1"/>
          </a:p>
        </p:txBody>
      </p:sp>
      <p:sp>
        <p:nvSpPr>
          <p:cNvPr id="15" name="card3"/>
          <p:cNvSpPr/>
          <p:nvPr/>
        </p:nvSpPr>
        <p:spPr>
          <a:xfrm>
            <a:off x="812800" y="3911600"/>
            <a:ext cx="5130800" cy="2006600"/>
          </a:xfrm>
          <a:prstGeom prst="roundRect">
            <a:avLst>
              <a:gd name="adj" fmla="val 6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16" name="card3-bar"/>
          <p:cNvSpPr/>
          <p:nvPr/>
        </p:nvSpPr>
        <p:spPr>
          <a:xfrm>
            <a:off x="812800" y="3911600"/>
            <a:ext cx="50800" cy="2006600"/>
          </a:xfrm>
          <a:prstGeom prst="rect">
            <a:avLst/>
          </a:prstGeom>
          <a:solidFill>
            <a:srgbClr val="666054"/>
          </a:solidFill>
          <a:ln>
            <a:noFill/>
          </a:ln>
        </p:spPr>
      </p:sp>
      <p:sp>
        <p:nvSpPr>
          <p:cNvPr id="17" name="card3-tag"/>
          <p:cNvSpPr txBox="1"/>
          <p:nvPr/>
        </p:nvSpPr>
        <p:spPr>
          <a:xfrm>
            <a:off x="1168400" y="4140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666054"/>
                </a:solidFill>
                <a:latin typeface="Oranienbaum"/>
                <a:ea typeface="Oranienbaum"/>
              </a:rPr>
              <a:t>C</a:t>
            </a:r>
            <a:endParaRPr lang="en-US" sz="2000" noProof="1"/>
          </a:p>
        </p:txBody>
      </p:sp>
      <p:sp>
        <p:nvSpPr>
          <p:cNvPr id="18" name="card3-title"/>
          <p:cNvSpPr txBox="1"/>
          <p:nvPr/>
        </p:nvSpPr>
        <p:spPr>
          <a:xfrm>
            <a:off x="1600200" y="4140200"/>
            <a:ext cx="3987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171512"/>
                </a:solidFill>
                <a:latin typeface="Liter"/>
                <a:ea typeface="Liter"/>
              </a:rPr>
              <a:t>Query &amp; History</a:t>
            </a:r>
            <a:endParaRPr lang="en-US" sz="1500" noProof="1"/>
          </a:p>
        </p:txBody>
      </p:sp>
      <p:sp>
        <p:nvSpPr>
          <p:cNvPr id="19" name="card3-body"/>
          <p:cNvSpPr txBox="1"/>
          <p:nvPr/>
        </p:nvSpPr>
        <p:spPr>
          <a:xfrm>
            <a:off x="1168400" y="4546600"/>
            <a:ext cx="4419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List query (pagination + filter), detail &amp; history APIs, timeline UI, search &amp; sort.</a:t>
            </a:r>
            <a:endParaRPr lang="en-US" sz="1300" noProof="1"/>
          </a:p>
        </p:txBody>
      </p:sp>
      <p:sp>
        <p:nvSpPr>
          <p:cNvPr id="20" name="card4"/>
          <p:cNvSpPr/>
          <p:nvPr/>
        </p:nvSpPr>
        <p:spPr>
          <a:xfrm>
            <a:off x="6248400" y="3911600"/>
            <a:ext cx="5130800" cy="2006600"/>
          </a:xfrm>
          <a:prstGeom prst="roundRect">
            <a:avLst>
              <a:gd name="adj" fmla="val 6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21" name="card4-bar"/>
          <p:cNvSpPr/>
          <p:nvPr/>
        </p:nvSpPr>
        <p:spPr>
          <a:xfrm>
            <a:off x="6248400" y="3911600"/>
            <a:ext cx="50800" cy="2006600"/>
          </a:xfrm>
          <a:prstGeom prst="rect">
            <a:avLst/>
          </a:prstGeom>
          <a:solidFill>
            <a:srgbClr val="A8A196"/>
          </a:solidFill>
          <a:ln>
            <a:noFill/>
          </a:ln>
        </p:spPr>
      </p:sp>
      <p:sp>
        <p:nvSpPr>
          <p:cNvPr id="22" name="card4-tag"/>
          <p:cNvSpPr txBox="1"/>
          <p:nvPr/>
        </p:nvSpPr>
        <p:spPr>
          <a:xfrm>
            <a:off x="6604000" y="41402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6E6A61"/>
                </a:solidFill>
                <a:latin typeface="Oranienbaum"/>
                <a:ea typeface="Oranienbaum"/>
              </a:rPr>
              <a:t>D</a:t>
            </a:r>
            <a:endParaRPr lang="en-US" sz="2000" noProof="1"/>
          </a:p>
        </p:txBody>
      </p:sp>
      <p:sp>
        <p:nvSpPr>
          <p:cNvPr id="23" name="card4-title"/>
          <p:cNvSpPr txBox="1"/>
          <p:nvPr/>
        </p:nvSpPr>
        <p:spPr>
          <a:xfrm>
            <a:off x="7035800" y="4140200"/>
            <a:ext cx="39878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171512"/>
                </a:solidFill>
                <a:latin typeface="Liter"/>
                <a:ea typeface="Liter"/>
              </a:rPr>
              <a:t>Quality &amp; Scheduler</a:t>
            </a:r>
            <a:endParaRPr lang="en-US" sz="1500" noProof="1"/>
          </a:p>
        </p:txBody>
      </p:sp>
      <p:sp>
        <p:nvSpPr>
          <p:cNvPr id="24" name="card4-body"/>
          <p:cNvSpPr txBox="1"/>
          <p:nvPr/>
        </p:nvSpPr>
        <p:spPr>
          <a:xfrm>
            <a:off x="6604000" y="4546600"/>
            <a:ext cx="44196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6E6A61"/>
                </a:solidFill>
                <a:latin typeface="Liter"/>
                <a:ea typeface="Liter"/>
              </a:rPr>
              <a:t>Global exception handler, timeout scheduler, optimistic locking, CI/CD, test coverage ≥70%.</a:t>
            </a:r>
            <a:endParaRPr lang="en-US" sz="1300" noProof="1"/>
          </a:p>
        </p:txBody>
      </p:sp>
      <p:sp>
        <p:nvSpPr>
          <p:cNvPr id="25" name="rule-bottom"/>
          <p:cNvSpPr/>
          <p:nvPr/>
        </p:nvSpPr>
        <p:spPr>
          <a:xfrm>
            <a:off x="812800" y="6350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26" name="footer-left"/>
          <p:cNvSpPr txBox="1"/>
          <p:nvPr/>
        </p:nvSpPr>
        <p:spPr>
          <a:xfrm>
            <a:off x="8128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PAYMENT PROCESSING SYSTEM</a:t>
            </a:r>
            <a:endParaRPr lang="en-US" sz="900" noProof="1"/>
          </a:p>
        </p:txBody>
      </p:sp>
      <p:sp>
        <p:nvSpPr>
          <p:cNvPr id="27" name="footer-right"/>
          <p:cNvSpPr txBox="1"/>
          <p:nvPr/>
        </p:nvSpPr>
        <p:spPr>
          <a:xfrm>
            <a:off x="75692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08 / 10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6E6A61"/>
                </a:solidFill>
                <a:latin typeface="Liter"/>
                <a:ea typeface="Liter"/>
              </a:rPr>
              <a:t>08 / QUALITY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171512"/>
                </a:solidFill>
                <a:latin typeface="Oranienbaum"/>
                <a:ea typeface="Oranienbaum"/>
              </a:rPr>
              <a:t>Testing Strategy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5" name="col1"/>
          <p:cNvSpPr/>
          <p:nvPr/>
        </p:nvSpPr>
        <p:spPr>
          <a:xfrm>
            <a:off x="812800" y="1701800"/>
            <a:ext cx="3327400" cy="3251200"/>
          </a:xfrm>
          <a:prstGeom prst="roundRect">
            <a:avLst>
              <a:gd name="adj" fmla="val 5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6" name="col1-p"/>
          <p:cNvSpPr txBox="1"/>
          <p:nvPr/>
        </p:nvSpPr>
        <p:spPr>
          <a:xfrm>
            <a:off x="812800" y="20066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400" noProof="1">
                <a:solidFill>
                  <a:srgbClr val="171512"/>
                </a:solidFill>
                <a:latin typeface="Oranienbaum"/>
                <a:ea typeface="Oranienbaum"/>
              </a:rPr>
              <a:t>P0</a:t>
            </a:r>
            <a:endParaRPr lang="en-US" sz="4400" noProof="1"/>
          </a:p>
        </p:txBody>
      </p:sp>
      <p:sp>
        <p:nvSpPr>
          <p:cNvPr id="7" name="col1-label"/>
          <p:cNvSpPr txBox="1"/>
          <p:nvPr/>
        </p:nvSpPr>
        <p:spPr>
          <a:xfrm>
            <a:off x="812800" y="27178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 spc="200" kern="0">
                <a:solidFill>
                  <a:srgbClr val="6E6A61"/>
                </a:solidFill>
                <a:latin typeface="Liter"/>
                <a:ea typeface="Liter"/>
              </a:rPr>
              <a:t>CRITICAL</a:t>
            </a:r>
            <a:endParaRPr lang="en-US" sz="1100" noProof="1"/>
          </a:p>
        </p:txBody>
      </p:sp>
      <p:sp>
        <p:nvSpPr>
          <p:cNvPr id="8" name="col1-rule"/>
          <p:cNvSpPr/>
          <p:nvPr/>
        </p:nvSpPr>
        <p:spPr>
          <a:xfrm>
            <a:off x="1460500" y="3098800"/>
            <a:ext cx="20320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9" name="col1-body"/>
          <p:cNvSpPr txBox="1"/>
          <p:nvPr/>
        </p:nvSpPr>
        <p:spPr>
          <a:xfrm>
            <a:off x="1117600" y="3276600"/>
            <a:ext cx="27178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5000"/>
              </a:lnSpc>
            </a:pPr>
            <a:r>
              <a:rPr lang="en-US" sz="1200" noProof="1">
                <a:solidFill>
                  <a:srgbClr val="6E6A61"/>
                </a:solidFill>
                <a:latin typeface="Liter"/>
                <a:ea typeface="Liter"/>
              </a:rPr>
              <a:t>Create, idempotency, amount/currency/account validation, status transitions, 404 handling.</a:t>
            </a:r>
            <a:endParaRPr lang="en-US" sz="1200" noProof="1"/>
          </a:p>
        </p:txBody>
      </p:sp>
      <p:sp>
        <p:nvSpPr>
          <p:cNvPr id="10" name="col2"/>
          <p:cNvSpPr/>
          <p:nvPr/>
        </p:nvSpPr>
        <p:spPr>
          <a:xfrm>
            <a:off x="4432300" y="1701800"/>
            <a:ext cx="3327400" cy="3251200"/>
          </a:xfrm>
          <a:prstGeom prst="roundRect">
            <a:avLst>
              <a:gd name="adj" fmla="val 5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11" name="col2-p"/>
          <p:cNvSpPr txBox="1"/>
          <p:nvPr/>
        </p:nvSpPr>
        <p:spPr>
          <a:xfrm>
            <a:off x="4432300" y="20066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400" noProof="1">
                <a:solidFill>
                  <a:srgbClr val="171512"/>
                </a:solidFill>
                <a:latin typeface="Oranienbaum"/>
                <a:ea typeface="Oranienbaum"/>
              </a:rPr>
              <a:t>P1</a:t>
            </a:r>
            <a:endParaRPr lang="en-US" sz="4400" noProof="1"/>
          </a:p>
        </p:txBody>
      </p:sp>
      <p:sp>
        <p:nvSpPr>
          <p:cNvPr id="12" name="col2-label"/>
          <p:cNvSpPr txBox="1"/>
          <p:nvPr/>
        </p:nvSpPr>
        <p:spPr>
          <a:xfrm>
            <a:off x="4432300" y="27178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 spc="200" kern="0">
                <a:solidFill>
                  <a:srgbClr val="6E6A61"/>
                </a:solidFill>
                <a:latin typeface="Liter"/>
                <a:ea typeface="Liter"/>
              </a:rPr>
              <a:t>IMPORTANT</a:t>
            </a:r>
            <a:endParaRPr lang="en-US" sz="1100" noProof="1"/>
          </a:p>
        </p:txBody>
      </p:sp>
      <p:sp>
        <p:nvSpPr>
          <p:cNvPr id="13" name="col2-rule"/>
          <p:cNvSpPr/>
          <p:nvPr/>
        </p:nvSpPr>
        <p:spPr>
          <a:xfrm>
            <a:off x="5080000" y="3098800"/>
            <a:ext cx="20320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14" name="col2-body"/>
          <p:cNvSpPr txBox="1"/>
          <p:nvPr/>
        </p:nvSpPr>
        <p:spPr>
          <a:xfrm>
            <a:off x="4737100" y="3276600"/>
            <a:ext cx="27178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5000"/>
              </a:lnSpc>
            </a:pPr>
            <a:r>
              <a:rPr lang="en-US" sz="1200" noProof="1">
                <a:solidFill>
                  <a:srgbClr val="6E6A61"/>
                </a:solidFill>
                <a:latin typeface="Liter"/>
                <a:ea typeface="Liter"/>
              </a:rPr>
              <a:t>15-min timeout flow, SENT→FAILED, pagination, filtering, concurrent 409 conflict.</a:t>
            </a:r>
            <a:endParaRPr lang="en-US" sz="1200" noProof="1"/>
          </a:p>
        </p:txBody>
      </p:sp>
      <p:sp>
        <p:nvSpPr>
          <p:cNvPr id="15" name="col3"/>
          <p:cNvSpPr/>
          <p:nvPr/>
        </p:nvSpPr>
        <p:spPr>
          <a:xfrm>
            <a:off x="8051800" y="1701800"/>
            <a:ext cx="3327400" cy="3251200"/>
          </a:xfrm>
          <a:prstGeom prst="roundRect">
            <a:avLst>
              <a:gd name="adj" fmla="val 5000"/>
            </a:avLst>
          </a:prstGeom>
          <a:solidFill>
            <a:srgbClr val="F2EDE3"/>
          </a:solidFill>
          <a:ln>
            <a:noFill/>
          </a:ln>
        </p:spPr>
      </p:sp>
      <p:sp>
        <p:nvSpPr>
          <p:cNvPr id="16" name="col3-p"/>
          <p:cNvSpPr txBox="1"/>
          <p:nvPr/>
        </p:nvSpPr>
        <p:spPr>
          <a:xfrm>
            <a:off x="8051800" y="2006600"/>
            <a:ext cx="3327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4400" noProof="1">
                <a:solidFill>
                  <a:srgbClr val="171512"/>
                </a:solidFill>
                <a:latin typeface="Oranienbaum"/>
                <a:ea typeface="Oranienbaum"/>
              </a:rPr>
              <a:t>P2</a:t>
            </a:r>
            <a:endParaRPr lang="en-US" sz="4400" noProof="1"/>
          </a:p>
        </p:txBody>
      </p:sp>
      <p:sp>
        <p:nvSpPr>
          <p:cNvPr id="17" name="col3-label"/>
          <p:cNvSpPr txBox="1"/>
          <p:nvPr/>
        </p:nvSpPr>
        <p:spPr>
          <a:xfrm>
            <a:off x="8051800" y="2717800"/>
            <a:ext cx="3327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 spc="200" kern="0">
                <a:solidFill>
                  <a:srgbClr val="6E6A61"/>
                </a:solidFill>
                <a:latin typeface="Liter"/>
                <a:ea typeface="Liter"/>
              </a:rPr>
              <a:t>ENHANCE</a:t>
            </a:r>
            <a:endParaRPr lang="en-US" sz="1100" noProof="1"/>
          </a:p>
        </p:txBody>
      </p:sp>
      <p:sp>
        <p:nvSpPr>
          <p:cNvPr id="18" name="col3-rule"/>
          <p:cNvSpPr/>
          <p:nvPr/>
        </p:nvSpPr>
        <p:spPr>
          <a:xfrm>
            <a:off x="8699500" y="3098800"/>
            <a:ext cx="20320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19" name="col3-body"/>
          <p:cNvSpPr txBox="1"/>
          <p:nvPr/>
        </p:nvSpPr>
        <p:spPr>
          <a:xfrm>
            <a:off x="8356600" y="3276600"/>
            <a:ext cx="27178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5000"/>
              </a:lnSpc>
            </a:pPr>
            <a:r>
              <a:rPr lang="en-US" sz="1200" noProof="1">
                <a:solidFill>
                  <a:srgbClr val="6E6A61"/>
                </a:solidFill>
                <a:latin typeface="Liter"/>
                <a:ea typeface="Liter"/>
              </a:rPr>
              <a:t>Error message format, traceId propagation, responsive layout, empty states.</a:t>
            </a:r>
            <a:endParaRPr lang="en-US" sz="1200" noProof="1"/>
          </a:p>
        </p:txBody>
      </p:sp>
      <p:sp>
        <p:nvSpPr>
          <p:cNvPr id="20" name="bottom-bar"/>
          <p:cNvSpPr/>
          <p:nvPr/>
        </p:nvSpPr>
        <p:spPr>
          <a:xfrm>
            <a:off x="812800" y="5232400"/>
            <a:ext cx="10566400" cy="660400"/>
          </a:xfrm>
          <a:prstGeom prst="roundRect">
            <a:avLst>
              <a:gd name="adj" fmla="val 10000"/>
            </a:avLst>
          </a:prstGeom>
          <a:solidFill>
            <a:srgbClr val="FAF7F1"/>
          </a:solidFill>
          <a:ln w="19050">
            <a:solidFill>
              <a:srgbClr val="E3DCCE"/>
            </a:solidFill>
          </a:ln>
        </p:spPr>
      </p:sp>
      <p:sp>
        <p:nvSpPr>
          <p:cNvPr id="21" name="bottom-bar-text"/>
          <p:cNvSpPr txBox="1"/>
          <p:nvPr/>
        </p:nvSpPr>
        <p:spPr>
          <a:xfrm>
            <a:off x="812800" y="5232400"/>
            <a:ext cx="105664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171512"/>
                </a:solidFill>
                <a:latin typeface="Liter"/>
                <a:ea typeface="Liter"/>
              </a:rPr>
              <a:t>JUnit 5 + Mockito · MockMvc + H2 · @SpringBootTest for Scheduler · Target coverage ≥ 70%</a:t>
            </a:r>
            <a:endParaRPr lang="en-US" sz="1250" noProof="1"/>
          </a:p>
        </p:txBody>
      </p:sp>
      <p:sp>
        <p:nvSpPr>
          <p:cNvPr id="22" name="rule-bottom"/>
          <p:cNvSpPr/>
          <p:nvPr/>
        </p:nvSpPr>
        <p:spPr>
          <a:xfrm>
            <a:off x="812800" y="6350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23" name="footer-left"/>
          <p:cNvSpPr txBox="1"/>
          <p:nvPr/>
        </p:nvSpPr>
        <p:spPr>
          <a:xfrm>
            <a:off x="8128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PAYMENT PROCESSING SYSTEM</a:t>
            </a:r>
            <a:endParaRPr lang="en-US" sz="900" noProof="1"/>
          </a:p>
        </p:txBody>
      </p:sp>
      <p:sp>
        <p:nvSpPr>
          <p:cNvPr id="24" name="footer-right"/>
          <p:cNvSpPr txBox="1"/>
          <p:nvPr/>
        </p:nvSpPr>
        <p:spPr>
          <a:xfrm>
            <a:off x="75692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09 / 10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>
  <p:cSld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5080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300" kern="0">
                <a:solidFill>
                  <a:srgbClr val="6E6A61"/>
                </a:solidFill>
                <a:latin typeface="Liter"/>
                <a:ea typeface="Liter"/>
              </a:rPr>
              <a:t>09 / WRAP-UP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635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>
                <a:solidFill>
                  <a:srgbClr val="171512"/>
                </a:solidFill>
                <a:latin typeface="Oranienbaum"/>
                <a:ea typeface="Oranienbaum"/>
              </a:rPr>
              <a:t>Challenges &amp; Future Work</a:t>
            </a:r>
            <a:endParaRPr lang="en-US" sz="3000" noProof="1"/>
          </a:p>
        </p:txBody>
      </p:sp>
      <p:sp>
        <p:nvSpPr>
          <p:cNvPr id="4" name="rule"/>
          <p:cNvSpPr/>
          <p:nvPr/>
        </p:nvSpPr>
        <p:spPr>
          <a:xfrm>
            <a:off x="812800" y="1397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5" name="col1-title"/>
          <p:cNvSpPr txBox="1"/>
          <p:nvPr/>
        </p:nvSpPr>
        <p:spPr>
          <a:xfrm>
            <a:off x="812800" y="1778000"/>
            <a:ext cx="5130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71512"/>
                </a:solidFill>
                <a:latin typeface="Oranienbaum"/>
                <a:ea typeface="Oranienbaum"/>
              </a:rPr>
              <a:t>Challenges Faced</a:t>
            </a:r>
            <a:endParaRPr lang="en-US" sz="2000" noProof="1"/>
          </a:p>
        </p:txBody>
      </p:sp>
      <p:sp>
        <p:nvSpPr>
          <p:cNvPr id="6" name="col1-rule"/>
          <p:cNvSpPr/>
          <p:nvPr/>
        </p:nvSpPr>
        <p:spPr>
          <a:xfrm>
            <a:off x="812800" y="2235200"/>
            <a:ext cx="51308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7" name="col1-body"/>
          <p:cNvSpPr txBox="1"/>
          <p:nvPr/>
        </p:nvSpPr>
        <p:spPr>
          <a:xfrm>
            <a:off x="812800" y="2438400"/>
            <a:ext cx="51308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210000"/>
              </a:lnSpc>
            </a:pPr>
            <a:r>
              <a:rPr lang="en-US" sz="1350" noProof="1">
                <a:solidFill>
                  <a:srgbClr val="6E6A61"/>
                </a:solidFill>
                <a:latin typeface="Liter"/>
                <a:ea typeface="Liter"/>
              </a:rPr>
              <a:t>• Concurrent idempotency-key collisions</a:t>
            </a:r>
            <a:endParaRPr lang="en-US" sz="1350" noProof="1"/>
          </a:p>
          <a:p>
            <a:pPr algn="l">
              <a:lnSpc>
                <a:spcPct val="210000"/>
              </a:lnSpc>
            </a:pPr>
            <a:r>
              <a:rPr lang="en-US" sz="1350" noProof="1">
                <a:solidFill>
                  <a:srgbClr val="6E6A61"/>
                </a:solidFill>
                <a:latin typeface="Liter"/>
                <a:ea typeface="Liter"/>
              </a:rPr>
              <a:t>• Scheduler timing precision in tests</a:t>
            </a:r>
            <a:endParaRPr lang="en-US" sz="1350" noProof="1"/>
          </a:p>
          <a:p>
            <a:pPr algn="l">
              <a:lnSpc>
                <a:spcPct val="210000"/>
              </a:lnSpc>
            </a:pPr>
            <a:r>
              <a:rPr lang="en-US" sz="1350" noProof="1">
                <a:solidFill>
                  <a:srgbClr val="6E6A61"/>
                </a:solidFill>
                <a:latin typeface="Liter"/>
                <a:ea typeface="Liter"/>
              </a:rPr>
              <a:t>• State machine edge-case coverage</a:t>
            </a:r>
            <a:endParaRPr lang="en-US" sz="1350" noProof="1"/>
          </a:p>
          <a:p>
            <a:pPr algn="l">
              <a:lnSpc>
                <a:spcPct val="210000"/>
              </a:lnSpc>
            </a:pPr>
            <a:r>
              <a:rPr lang="en-US" sz="1350" noProof="1">
                <a:solidFill>
                  <a:srgbClr val="6E6A61"/>
                </a:solidFill>
                <a:latin typeface="Liter"/>
                <a:ea typeface="Liter"/>
              </a:rPr>
              <a:t>• Cross-member API contract alignment</a:t>
            </a:r>
            <a:endParaRPr lang="en-US" sz="1350" noProof="1"/>
          </a:p>
        </p:txBody>
      </p:sp>
      <p:sp>
        <p:nvSpPr>
          <p:cNvPr id="8" name="col2-title"/>
          <p:cNvSpPr txBox="1"/>
          <p:nvPr/>
        </p:nvSpPr>
        <p:spPr>
          <a:xfrm>
            <a:off x="6248400" y="1778000"/>
            <a:ext cx="51308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000" noProof="1">
                <a:solidFill>
                  <a:srgbClr val="171512"/>
                </a:solidFill>
                <a:latin typeface="Oranienbaum"/>
                <a:ea typeface="Oranienbaum"/>
              </a:rPr>
              <a:t>What We'd Do Next</a:t>
            </a:r>
            <a:endParaRPr lang="en-US" sz="2000" noProof="1"/>
          </a:p>
        </p:txBody>
      </p:sp>
      <p:sp>
        <p:nvSpPr>
          <p:cNvPr id="9" name="col2-rule"/>
          <p:cNvSpPr/>
          <p:nvPr/>
        </p:nvSpPr>
        <p:spPr>
          <a:xfrm>
            <a:off x="6248400" y="2235200"/>
            <a:ext cx="51308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10" name="col2-body"/>
          <p:cNvSpPr txBox="1"/>
          <p:nvPr/>
        </p:nvSpPr>
        <p:spPr>
          <a:xfrm>
            <a:off x="6248400" y="2438400"/>
            <a:ext cx="513080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210000"/>
              </a:lnSpc>
            </a:pPr>
            <a:r>
              <a:rPr lang="en-US" sz="1350" noProof="1">
                <a:solidFill>
                  <a:srgbClr val="6E6A61"/>
                </a:solidFill>
                <a:latin typeface="Liter"/>
                <a:ea typeface="Liter"/>
              </a:rPr>
              <a:t>• OAuth2 / JWT authentication</a:t>
            </a:r>
            <a:endParaRPr lang="en-US" sz="1350" noProof="1"/>
          </a:p>
          <a:p>
            <a:pPr algn="l">
              <a:lnSpc>
                <a:spcPct val="210000"/>
              </a:lnSpc>
            </a:pPr>
            <a:r>
              <a:rPr lang="en-US" sz="1350" noProof="1">
                <a:solidFill>
                  <a:srgbClr val="6E6A61"/>
                </a:solidFill>
                <a:latin typeface="Liter"/>
                <a:ea typeface="Liter"/>
              </a:rPr>
              <a:t>• Multi-currency support (USD, EUR)</a:t>
            </a:r>
            <a:endParaRPr lang="en-US" sz="1350" noProof="1"/>
          </a:p>
          <a:p>
            <a:pPr algn="l">
              <a:lnSpc>
                <a:spcPct val="210000"/>
              </a:lnSpc>
            </a:pPr>
            <a:r>
              <a:rPr lang="en-US" sz="1350" noProof="1">
                <a:solidFill>
                  <a:srgbClr val="6E6A61"/>
                </a:solidFill>
                <a:latin typeface="Liter"/>
                <a:ea typeface="Liter"/>
              </a:rPr>
              <a:t>• Webhook notifications on state change</a:t>
            </a:r>
            <a:endParaRPr lang="en-US" sz="1350" noProof="1"/>
          </a:p>
          <a:p>
            <a:pPr algn="l">
              <a:lnSpc>
                <a:spcPct val="210000"/>
              </a:lnSpc>
            </a:pPr>
            <a:r>
              <a:rPr lang="en-US" sz="1350" noProof="1">
                <a:solidFill>
                  <a:srgbClr val="6E6A61"/>
                </a:solidFill>
                <a:latin typeface="Liter"/>
                <a:ea typeface="Liter"/>
              </a:rPr>
              <a:t>• Batch payments &amp; reversal operations</a:t>
            </a:r>
            <a:endParaRPr lang="en-US" sz="1350" noProof="1"/>
          </a:p>
        </p:txBody>
      </p:sp>
      <p:sp>
        <p:nvSpPr>
          <p:cNvPr id="11" name="thanks-pill"/>
          <p:cNvSpPr/>
          <p:nvPr/>
        </p:nvSpPr>
        <p:spPr>
          <a:xfrm>
            <a:off x="4191000" y="5181600"/>
            <a:ext cx="3810000" cy="635000"/>
          </a:xfrm>
          <a:prstGeom prst="roundRect">
            <a:avLst>
              <a:gd name="adj" fmla="val 50000"/>
            </a:avLst>
          </a:prstGeom>
          <a:solidFill>
            <a:srgbClr val="171512"/>
          </a:solidFill>
          <a:ln>
            <a:noFill/>
          </a:ln>
        </p:spPr>
      </p:sp>
      <p:sp>
        <p:nvSpPr>
          <p:cNvPr id="12" name="thanks-text"/>
          <p:cNvSpPr txBox="1"/>
          <p:nvPr/>
        </p:nvSpPr>
        <p:spPr>
          <a:xfrm>
            <a:off x="4191000" y="5181600"/>
            <a:ext cx="3810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500" noProof="1" b="1">
                <a:solidFill>
                  <a:srgbClr val="FFFFFF"/>
                </a:solidFill>
                <a:latin typeface="Liter"/>
                <a:ea typeface="Liter"/>
              </a:rPr>
              <a:t>Thank You — Questions?</a:t>
            </a:r>
            <a:endParaRPr lang="en-US" sz="1500" noProof="1"/>
          </a:p>
        </p:txBody>
      </p:sp>
      <p:sp>
        <p:nvSpPr>
          <p:cNvPr id="13" name="rule-bottom"/>
          <p:cNvSpPr/>
          <p:nvPr/>
        </p:nvSpPr>
        <p:spPr>
          <a:xfrm>
            <a:off x="812800" y="6350000"/>
            <a:ext cx="10566400" cy="12700"/>
          </a:xfrm>
          <a:prstGeom prst="rect">
            <a:avLst/>
          </a:prstGeom>
          <a:solidFill>
            <a:srgbClr val="DCD4C5"/>
          </a:solidFill>
          <a:ln>
            <a:noFill/>
          </a:ln>
        </p:spPr>
      </p:sp>
      <p:sp>
        <p:nvSpPr>
          <p:cNvPr id="14" name="footer-left"/>
          <p:cNvSpPr txBox="1"/>
          <p:nvPr/>
        </p:nvSpPr>
        <p:spPr>
          <a:xfrm>
            <a:off x="8128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PAYMENT PROCESSING SYSTEM</a:t>
            </a:r>
            <a:endParaRPr lang="en-US" sz="900" noProof="1"/>
          </a:p>
        </p:txBody>
      </p:sp>
      <p:sp>
        <p:nvSpPr>
          <p:cNvPr id="15" name="footer-right"/>
          <p:cNvSpPr txBox="1"/>
          <p:nvPr/>
        </p:nvSpPr>
        <p:spPr>
          <a:xfrm>
            <a:off x="7569200" y="6477000"/>
            <a:ext cx="381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spc="200" kern="0">
                <a:solidFill>
                  <a:srgbClr val="A8A196"/>
                </a:solidFill>
                <a:latin typeface="Liter"/>
                <a:ea typeface="Liter"/>
              </a:rPr>
              <a:t>10 / 10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10</Slides>
</Properties>
</file>

<file path=docProps/core.xml><?xml version="1.0" encoding="utf-8"?>
<cp:coreProperties xmlns:cp="http://schemas.openxmlformats.org/package/2006/metadata/core-properties" xmlns:dc="http://purl.org/dc/elements/1.1/">
  <dc:title>Payment Processing System</dc:title>
  <dc:subject>Payment Processing System</dc:subject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{"Label":"Payment Processing System","ContentProducer":"001191110108MACG2KBH8F10000","ProduceID":"19fabc0b-dd92-8d8e-8000-00006a4e4b8b","ReservedCode1":"","ContentPropagator":"001191110108MACG2KBH8F20000","PropagateID":"19fabbbb-2602-87aa-8000-09ed2d0d7657","ReservedCode2":""}</vt:lpwstr>
  </property>
</Properties>
</file>