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notesSlides/notesSlide1.xml" Type="http://schemas.openxmlformats.org/officeDocument/2006/relationships/notesSlide"/><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presProps.xml" Type="http://schemas.openxmlformats.org/officeDocument/2006/relationships/presProps"/><Relationship Id="rId30" Target="notesSlides/notesSlide11.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Hello everyone,today I will present the Smart Payment System,a robust Order Payment and Query System built on the Spring Boot framework.</a:t>
            </a:r>
          </a:p>
          <a:p>
            <a:pPr algn="l" marL="0" indent="0">
              <a:lnSpc>
                <a:spcPct val="100000"/>
              </a:lnSpc>
            </a:pPr>
            <a:r>
              <a:rPr lang="en-US" b="false" i="false" strike="noStrike" u="none" sz="1400">
                <a:solidFill>
                  <a:srgbClr val="000000"/>
                </a:solidFill>
              </a:rPr>
              <a:t>This system is designed to provide efficient and reliable APIs for retrieving payment information,focusing on clarity,maintainability,and scalability.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presentation will cover seven main sections.We'll start with an overview of the project,then dive into its technical architecture,core features,and API endpoints.We'll also examine the data model,highlight key aspects of the code implementation,and finally discuss current limitations and future enhancements.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presents the project overview with four key aspects: Core Objective, API Style, Data Focus, and Tech Stack, using a clean 2x2 card layout for clarity.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visualizes the system's layered technical architecture.</a:t>
            </a:r>
          </a:p>
          <a:p>
            <a:pPr algn="l" marL="0" indent="0">
              <a:lnSpc>
                <a:spcPct val="100000"/>
              </a:lnSpc>
            </a:pPr>
            <a:r>
              <a:rPr lang="en-US" b="false" i="false" strike="noStrike" u="none" sz="1400">
                <a:solidFill>
                  <a:srgbClr val="000000"/>
                </a:solidFill>
              </a:rPr>
              <a:t>1. Controller Layer: Entry point for HTTP requests, implemented by PaymentController.</a:t>
            </a:r>
          </a:p>
          <a:p>
            <a:pPr algn="l" marL="0" indent="0">
              <a:lnSpc>
                <a:spcPct val="100000"/>
              </a:lnSpc>
            </a:pPr>
            <a:r>
              <a:rPr lang="en-US" b="false" i="false" strike="noStrike" u="none" sz="1400">
                <a:solidFill>
                  <a:srgbClr val="000000"/>
                </a:solidFill>
              </a:rPr>
              <a:t>2. Service Layer: Contains core business logic, implemented by PaymentServiceImpl.</a:t>
            </a:r>
          </a:p>
          <a:p>
            <a:pPr algn="l" marL="0" indent="0">
              <a:lnSpc>
                <a:spcPct val="100000"/>
              </a:lnSpc>
            </a:pPr>
            <a:r>
              <a:rPr lang="en-US" b="false" i="false" strike="noStrike" u="none" sz="1400">
                <a:solidFill>
                  <a:srgbClr val="000000"/>
                </a:solidFill>
              </a:rPr>
              <a:t>3. DAO &amp; Database Layer: Handles data persistence with PaymentDao and MySQL database (using tables like payments and payment_history).</a:t>
            </a:r>
          </a:p>
          <a:p>
            <a:pPr algn="l" marL="0" indent="0">
              <a:lnSpc>
                <a:spcPct val="100000"/>
              </a:lnSpc>
            </a:pPr>
            <a:r>
              <a:rPr lang="en-US" b="false" i="false" strike="noStrike" u="none" sz="1400">
                <a:solidFill>
                  <a:srgbClr val="000000"/>
                </a:solidFill>
              </a:rPr>
              <a:t>Arrows indicate the flow of calls from the presentation tier down to the data tier, ensuring a clear separation of concerns.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move on to the core features. The first one is Payment Detail Retrieval. Clients can fetch a specific payment by its ID through a GET request.</a:t>
            </a:r>
          </a:p>
          <a:p>
            <a:pPr algn="l" marL="0" indent="0">
              <a:lnSpc>
                <a:spcPct val="100000"/>
              </a:lnSpc>
            </a:pPr>
            <a:r>
              <a:rPr lang="en-US" b="false" i="false" strike="noStrike" u="none" sz="1400">
                <a:solidFill>
                  <a:srgbClr val="000000"/>
                </a:solidFill>
              </a:rPr>
              <a:t>As shown in the code snippet, the service layer retrieves the payment from the DAO. If it doesn't exist, a custom exception is thrown, which translates to a 404 HTTP response. Otherwise, the payment data is converted to a DTO and returned.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let's look at the API endpoints. We have two main GET endpoints. The first is /api/payments/{id} to retrieve a single payment's details.</a:t>
            </a:r>
          </a:p>
          <a:p>
            <a:pPr algn="l" marL="0" indent="0">
              <a:lnSpc>
                <a:spcPct val="100000"/>
              </a:lnSpc>
            </a:pPr>
            <a:r>
              <a:rPr lang="en-US" b="false" i="false" strike="noStrike" u="none" sz="1400">
                <a:solidFill>
                  <a:srgbClr val="000000"/>
                </a:solidFill>
              </a:rPr>
              <a:t>The second is /api/payments to get a paginated list of payments, which supports optional filtering by status, page number, and page size. Both return appropriate HTTP status codes and DTOs.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examine the data model.The Payment entity represents a single payment order.It includes fields for the source and destination accounts,amount,currency,and current status.It also stores error information if the payment failed,along with timestamps for creation and updates.Note that fields like idempotencyKey exist in the model but are not currently used in the implementation.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Now,let's highlight some key aspects of the code.First,the clear separation of concerns across the layers makes the codebase highly maintainable.</a:t>
            </a:r>
          </a:p>
          <a:p>
            <a:pPr algn="l" marL="0" indent="0">
              <a:lnSpc>
                <a:spcPct val="100000"/>
              </a:lnSpc>
            </a:pPr>
            <a:r>
              <a:rPr lang="en-US" b="false" i="false" strike="noStrike" u="none" sz="1400">
                <a:solidFill>
                  <a:srgbClr val="000000"/>
                </a:solidFill>
              </a:rPr>
              <a:t>Second,the use of Data Transfer Objects,or DTOs,is a best practice.DTOs like PaymentResponse define the API contract,decoupling the internal entity model from what's exposed to clients,which gives us the flexibility to evolve the internal model independently.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shows our team structure. Team member A is responsible for order creation,B for order details,C for order query and filtering,and D for order history tracking.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Finally, let's discuss the current limitations and future plans. Currently, the system is read-only; it cannot create payments or update their statuses. The idempotency key and scheduler are also not implemented. Looking ahead, our roadmap includes implementing the payment creation API, building a state machine for status transitions, adding a scheduler, integrating security, and expanding error handling.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That concludes my presentation. Thank you for your attention. I'm happy to answer any questions you may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1.xml" Type="http://schemas.openxmlformats.org/officeDocument/2006/relationships/notesSlide"/><Relationship Id="rId4"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0"/>
            <a:ext cx="12192000" cy="6858000"/>
          </a:xfrm>
          <a:prstGeom prst="roundRect">
            <a:avLst>
              <a:gd name="adj" fmla="val 0"/>
            </a:avLst>
          </a:prstGeom>
          <a:gradFill rotWithShape="true">
            <a:gsLst>
              <a:gs pos="30000">
                <a:srgbClr val="000000">
                  <a:alpha val="0"/>
                </a:srgbClr>
              </a:gs>
              <a:gs pos="85000">
                <a:srgbClr val="000000">
                  <a:alpha val="35000"/>
                </a:srgbClr>
              </a:gs>
            </a:gsLst>
            <a:path path="circle">
              <a:fillToRect l="50000" r="50000" t="50000" b="50000"/>
            </a:path>
            <a:tileRect t="0" b="0" l="0" r="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8575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4800">
                <a:solidFill>
                  <a:srgbClr val="FFFFFF"/>
                </a:solidFill>
                <a:latin typeface="JetBrains Mono Bold"/>
                <a:ea typeface="JetBrains Mono Bold"/>
                <a:cs typeface="JetBrains Mono Bold"/>
                <a:sym typeface="JetBrains Mono Bold"/>
              </a:rPr>
              <a:t>Smart Payment System</a:t>
            </a:r>
            <a:endParaRPr lang="en-US" sz="1100"/>
          </a:p>
        </p:txBody>
      </p:sp>
      <p:sp>
        <p:nvSpPr>
          <p:cNvPr name="AutoShape 5" id="5"/>
          <p:cNvSpPr/>
          <p:nvPr/>
        </p:nvSpPr>
        <p:spPr>
          <a:xfrm rot="0" flipH="false" flipV="false">
            <a:off x="0" y="4254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2400">
                <a:solidFill>
                  <a:srgbClr val="FFFFFF"/>
                </a:solidFill>
                <a:latin typeface="JetBrains Mono"/>
                <a:ea typeface="JetBrains Mono"/>
                <a:cs typeface="JetBrains Mono"/>
                <a:sym typeface="JetBrains Mono"/>
              </a:rPr>
              <a:t>A Visual Overview</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762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3200">
                <a:solidFill>
                  <a:srgbClr val="FFFFFF"/>
                </a:solidFill>
                <a:latin typeface="JetBrains Mono Bold"/>
                <a:ea typeface="JetBrains Mono Bold"/>
                <a:cs typeface="JetBrains Mono Bold"/>
                <a:sym typeface="JetBrains Mono Bold"/>
              </a:rPr>
              <a:t>Table of Contents</a:t>
            </a:r>
            <a:endParaRPr lang="en-US" sz="1100"/>
          </a:p>
        </p:txBody>
      </p:sp>
      <p:sp>
        <p:nvSpPr>
          <p:cNvPr name="AutoShape 4" id="4"/>
          <p:cNvSpPr/>
          <p:nvPr/>
        </p:nvSpPr>
        <p:spPr>
          <a:xfrm rot="0" flipH="false" flipV="false">
            <a:off x="1524000" y="2794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5" id="5"/>
          <p:cNvSpPr/>
          <p:nvPr/>
        </p:nvSpPr>
        <p:spPr>
          <a:xfrm rot="0" flipH="false" flipV="false">
            <a:off x="2413000" y="2794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01 Overview</a:t>
            </a:r>
            <a:endParaRPr lang="en-US" sz="1100"/>
          </a:p>
        </p:txBody>
      </p:sp>
      <p:sp>
        <p:nvSpPr>
          <p:cNvPr name="AutoShape 6" id="6"/>
          <p:cNvSpPr/>
          <p:nvPr/>
        </p:nvSpPr>
        <p:spPr>
          <a:xfrm rot="0" flipH="false" flipV="false">
            <a:off x="4445000" y="2794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7" id="7"/>
          <p:cNvSpPr/>
          <p:nvPr/>
        </p:nvSpPr>
        <p:spPr>
          <a:xfrm rot="0" flipH="false" flipV="false">
            <a:off x="5334000" y="2794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02 Architecture</a:t>
            </a:r>
            <a:endParaRPr lang="en-US" sz="1100"/>
          </a:p>
        </p:txBody>
      </p:sp>
      <p:sp>
        <p:nvSpPr>
          <p:cNvPr name="AutoShape 8" id="8"/>
          <p:cNvSpPr/>
          <p:nvPr/>
        </p:nvSpPr>
        <p:spPr>
          <a:xfrm rot="0" flipH="false" flipV="false">
            <a:off x="7620000" y="2794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9" id="9"/>
          <p:cNvSpPr/>
          <p:nvPr/>
        </p:nvSpPr>
        <p:spPr>
          <a:xfrm rot="0" flipH="false" flipV="false">
            <a:off x="8509000" y="2794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03 Features</a:t>
            </a:r>
            <a:endParaRPr lang="en-US" sz="1100"/>
          </a:p>
        </p:txBody>
      </p:sp>
      <p:sp>
        <p:nvSpPr>
          <p:cNvPr name="AutoShape 10" id="10"/>
          <p:cNvSpPr/>
          <p:nvPr/>
        </p:nvSpPr>
        <p:spPr>
          <a:xfrm rot="0" flipH="false" flipV="false">
            <a:off x="10160000" y="2794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11" id="11"/>
          <p:cNvSpPr/>
          <p:nvPr/>
        </p:nvSpPr>
        <p:spPr>
          <a:xfrm rot="0" flipH="false" flipV="false">
            <a:off x="10414000" y="2794000"/>
            <a:ext cx="127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04 API</a:t>
            </a:r>
            <a:endParaRPr lang="en-US" sz="1100"/>
          </a:p>
        </p:txBody>
      </p:sp>
      <p:sp>
        <p:nvSpPr>
          <p:cNvPr name="AutoShape 12" id="12"/>
          <p:cNvSpPr/>
          <p:nvPr/>
        </p:nvSpPr>
        <p:spPr>
          <a:xfrm rot="0" flipH="false" flipV="false">
            <a:off x="1524000" y="4826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13" id="13"/>
          <p:cNvSpPr/>
          <p:nvPr/>
        </p:nvSpPr>
        <p:spPr>
          <a:xfrm rot="0" flipH="false" flipV="false">
            <a:off x="2413000" y="4826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05 Data Model</a:t>
            </a:r>
            <a:endParaRPr lang="en-US" sz="1100"/>
          </a:p>
        </p:txBody>
      </p:sp>
      <p:sp>
        <p:nvSpPr>
          <p:cNvPr name="AutoShape 14" id="14"/>
          <p:cNvSpPr/>
          <p:nvPr/>
        </p:nvSpPr>
        <p:spPr>
          <a:xfrm rot="0" flipH="false" flipV="false">
            <a:off x="4445000" y="4826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15" id="15"/>
          <p:cNvSpPr/>
          <p:nvPr/>
        </p:nvSpPr>
        <p:spPr>
          <a:xfrm rot="0" flipH="false" flipV="false">
            <a:off x="5334000" y="4826000"/>
            <a:ext cx="228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06 Highlights</a:t>
            </a:r>
            <a:endParaRPr lang="en-US" sz="1100"/>
          </a:p>
        </p:txBody>
      </p:sp>
      <p:sp>
        <p:nvSpPr>
          <p:cNvPr name="AutoShape 16" id="16"/>
          <p:cNvSpPr/>
          <p:nvPr/>
        </p:nvSpPr>
        <p:spPr>
          <a:xfrm rot="0" flipH="false" flipV="false">
            <a:off x="7620000" y="4826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17" id="17"/>
          <p:cNvSpPr/>
          <p:nvPr/>
        </p:nvSpPr>
        <p:spPr>
          <a:xfrm rot="0" flipH="false" flipV="false">
            <a:off x="8509000" y="4826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07 Team</a:t>
            </a:r>
            <a:endParaRPr lang="en-US" sz="1100"/>
          </a:p>
        </p:txBody>
      </p:sp>
      <p:sp>
        <p:nvSpPr>
          <p:cNvPr name="AutoShape 18" id="18"/>
          <p:cNvSpPr/>
          <p:nvPr/>
        </p:nvSpPr>
        <p:spPr>
          <a:xfrm rot="0" flipH="false" flipV="false">
            <a:off x="10160000" y="4826000"/>
            <a:ext cx="76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3200">
                <a:solidFill>
                  <a:srgbClr val="FFFFFF"/>
                </a:solidFill>
                <a:latin typeface="Segoe UI Emoji"/>
                <a:ea typeface="Segoe UI Emoji"/>
                <a:cs typeface="Segoe UI Emoji"/>
                <a:sym typeface="Segoe UI Emoji"/>
              </a:rPr>
              <a:t>🗺️</a:t>
            </a:r>
            <a:endParaRPr lang="en-US" sz="1100"/>
          </a:p>
        </p:txBody>
      </p:sp>
      <p:sp>
        <p:nvSpPr>
          <p:cNvPr name="AutoShape 19" id="19"/>
          <p:cNvSpPr/>
          <p:nvPr/>
        </p:nvSpPr>
        <p:spPr>
          <a:xfrm rot="0" flipH="false" flipV="false">
            <a:off x="10414000" y="4826000"/>
            <a:ext cx="177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solidFill>
                <a:latin typeface="JetBrains Mono"/>
                <a:ea typeface="JetBrains Mono"/>
                <a:cs typeface="JetBrains Mono"/>
                <a:sym typeface="JetBrains Mono"/>
              </a:rPr>
              <a:t>08 Roadmap</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111827">
              <a:alpha val="8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3200">
                <a:solidFill>
                  <a:srgbClr val="FFFFFF"/>
                </a:solidFill>
                <a:latin typeface="JetBrains Mono Bold"/>
                <a:ea typeface="JetBrains Mono Bold"/>
                <a:cs typeface="JetBrains Mono Bold"/>
                <a:sym typeface="JetBrains Mono Bold"/>
              </a:rPr>
              <a:t>01 Project Overview</a:t>
            </a:r>
            <a:endParaRPr lang="en-US" sz="1100"/>
          </a:p>
        </p:txBody>
      </p:sp>
      <p:sp>
        <p:nvSpPr>
          <p:cNvPr name="AutoShape 4" id="4"/>
          <p:cNvSpPr/>
          <p:nvPr/>
        </p:nvSpPr>
        <p:spPr>
          <a:xfrm rot="0" flipH="false" flipV="false">
            <a:off x="762000" y="2540000"/>
            <a:ext cx="5080000" cy="2032000"/>
          </a:xfrm>
          <a:prstGeom prst="roundRect">
            <a:avLst>
              <a:gd name="adj" fmla="val 5000"/>
            </a:avLst>
          </a:prstGeom>
          <a:solidFill>
            <a:srgbClr val="1F2937">
              <a:alpha val="75000"/>
            </a:srgbClr>
          </a:solidFill>
          <a:ln w="12700" cmpd="sng" cap="flat">
            <a:solidFill>
              <a:srgbClr val="3B82F6">
                <a:alpha val="60000"/>
              </a:srgbClr>
            </a:solidFill>
            <a:prstDash val="solid"/>
            <a:round/>
          </a:ln>
        </p:spPr>
        <p:txBody>
          <a:bodyPr anchor="t" rtlCol="false" anchorCtr="false" vert="horz" wrap="square" lIns="304800" rIns="304800" tIns="254000" bIns="254000"/>
          <a:lstStyle/>
          <a:p>
            <a:pPr algn="ctr" marL="0" indent="0">
              <a:lnSpc>
                <a:spcPct val="116666"/>
              </a:lnSpc>
              <a:defRPr/>
            </a:pPr>
            <a:r>
              <a:rPr lang="en-US" b="false" i="false" strike="noStrike" u="none" sz="28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pPr>
            <a:r>
              <a:rPr lang="en-US" b="true" i="false" strike="noStrike" u="none" sz="1800">
                <a:solidFill>
                  <a:srgbClr val="60A5FA"/>
                </a:solidFill>
                <a:latin typeface="JetBrains Mono Bold"/>
                <a:ea typeface="JetBrains Mono Bold"/>
                <a:cs typeface="JetBrains Mono Bold"/>
                <a:sym typeface="JetBrains Mono Bold"/>
              </a:rPr>
              <a:t>Core Objective</a:t>
            </a:r>
            <a:r>
              <a:rPr lang="en-US" b="false" i="false" strike="noStrike" u="none" sz="1600">
                <a:solidFill>
                  <a:srgbClr val="1F2329"/>
                </a:solidFill>
                <a:latin typeface="Noto Sans SC"/>
                <a:ea typeface="Noto Sans SC"/>
                <a:cs typeface="Noto Sans SC"/>
                <a:sym typeface="Noto Sans SC"/>
              </a:rPr>
              <a:t/>
            </a:r>
          </a:p>
          <a:p>
            <a:pPr algn="ctr" marL="0" indent="0">
              <a:lnSpc>
                <a:spcPct val="116666"/>
              </a:lnSpc>
            </a:pPr>
            <a:r>
              <a:rPr lang="en-US" b="false" i="false" strike="noStrike" u="none" sz="1400">
                <a:solidFill>
                  <a:srgbClr val="E5E7EB"/>
                </a:solidFill>
                <a:latin typeface="JetBrains Mono"/>
                <a:ea typeface="JetBrains Mono"/>
                <a:cs typeface="JetBrains Mono"/>
                <a:sym typeface="JetBrains Mono"/>
              </a:rPr>
              <a:t>Retrieve payment information efficiently.</a:t>
            </a:r>
          </a:p>
        </p:txBody>
      </p:sp>
      <p:sp>
        <p:nvSpPr>
          <p:cNvPr name="AutoShape 5" id="5"/>
          <p:cNvSpPr/>
          <p:nvPr/>
        </p:nvSpPr>
        <p:spPr>
          <a:xfrm rot="0" flipH="false" flipV="false">
            <a:off x="6350000" y="2540000"/>
            <a:ext cx="5080000" cy="2032000"/>
          </a:xfrm>
          <a:prstGeom prst="roundRect">
            <a:avLst>
              <a:gd name="adj" fmla="val 5000"/>
            </a:avLst>
          </a:prstGeom>
          <a:solidFill>
            <a:srgbClr val="1F2937">
              <a:alpha val="75000"/>
            </a:srgbClr>
          </a:solidFill>
          <a:ln w="12700" cmpd="sng" cap="flat">
            <a:solidFill>
              <a:srgbClr val="3B82F6">
                <a:alpha val="60000"/>
              </a:srgbClr>
            </a:solidFill>
            <a:prstDash val="solid"/>
            <a:round/>
          </a:ln>
        </p:spPr>
        <p:txBody>
          <a:bodyPr anchor="t" rtlCol="false" anchorCtr="false" vert="horz" wrap="square" lIns="304800" rIns="304800" tIns="254000" bIns="254000"/>
          <a:lstStyle/>
          <a:p>
            <a:pPr algn="ctr" marL="0" indent="0">
              <a:lnSpc>
                <a:spcPct val="116666"/>
              </a:lnSpc>
              <a:defRPr/>
            </a:pPr>
            <a:r>
              <a:rPr lang="en-US" b="false" i="false" strike="noStrike" u="none" sz="28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pPr>
            <a:r>
              <a:rPr lang="en-US" b="true" i="false" strike="noStrike" u="none" sz="1800">
                <a:solidFill>
                  <a:srgbClr val="60A5FA"/>
                </a:solidFill>
                <a:latin typeface="JetBrains Mono Bold"/>
                <a:ea typeface="JetBrains Mono Bold"/>
                <a:cs typeface="JetBrains Mono Bold"/>
                <a:sym typeface="JetBrains Mono Bold"/>
              </a:rPr>
              <a:t>API Style</a:t>
            </a:r>
            <a:r>
              <a:rPr lang="en-US" b="false" i="false" strike="noStrike" u="none" sz="1600">
                <a:solidFill>
                  <a:srgbClr val="1F2329"/>
                </a:solidFill>
                <a:latin typeface="Noto Sans SC"/>
                <a:ea typeface="Noto Sans SC"/>
                <a:cs typeface="Noto Sans SC"/>
                <a:sym typeface="Noto Sans SC"/>
              </a:rPr>
              <a:t/>
            </a:r>
          </a:p>
          <a:p>
            <a:pPr algn="ctr" marL="0" indent="0">
              <a:lnSpc>
                <a:spcPct val="116666"/>
              </a:lnSpc>
            </a:pPr>
            <a:r>
              <a:rPr lang="en-US" b="false" i="false" strike="noStrike" u="none" sz="1400">
                <a:solidFill>
                  <a:srgbClr val="E5E7EB"/>
                </a:solidFill>
                <a:latin typeface="JetBrains Mono"/>
                <a:ea typeface="JetBrains Mono"/>
                <a:cs typeface="JetBrains Mono"/>
                <a:sym typeface="JetBrains Mono"/>
              </a:rPr>
              <a:t>Clean, resource-oriented REST API.</a:t>
            </a:r>
          </a:p>
        </p:txBody>
      </p:sp>
      <p:sp>
        <p:nvSpPr>
          <p:cNvPr name="AutoShape 6" id="6"/>
          <p:cNvSpPr/>
          <p:nvPr/>
        </p:nvSpPr>
        <p:spPr>
          <a:xfrm rot="0" flipH="false" flipV="false">
            <a:off x="762000" y="4826000"/>
            <a:ext cx="5080000" cy="1778000"/>
          </a:xfrm>
          <a:prstGeom prst="roundRect">
            <a:avLst>
              <a:gd name="adj" fmla="val 5714"/>
            </a:avLst>
          </a:prstGeom>
          <a:solidFill>
            <a:srgbClr val="1F2937">
              <a:alpha val="75000"/>
            </a:srgbClr>
          </a:solidFill>
          <a:ln w="12700" cmpd="sng" cap="flat">
            <a:solidFill>
              <a:srgbClr val="3B82F6">
                <a:alpha val="60000"/>
              </a:srgbClr>
            </a:solidFill>
            <a:prstDash val="solid"/>
            <a:round/>
          </a:ln>
        </p:spPr>
        <p:txBody>
          <a:bodyPr anchor="t" rtlCol="false" anchorCtr="false" vert="horz" wrap="square" lIns="304800" rIns="304800" tIns="254000" bIns="254000"/>
          <a:lstStyle/>
          <a:p>
            <a:pPr algn="ctr" marL="0" indent="0">
              <a:lnSpc>
                <a:spcPct val="116666"/>
              </a:lnSpc>
              <a:defRPr/>
            </a:pPr>
            <a:r>
              <a:rPr lang="en-US" b="false" i="false" strike="noStrike" u="none" sz="28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pPr>
            <a:r>
              <a:rPr lang="en-US" b="true" i="false" strike="noStrike" u="none" sz="1800">
                <a:solidFill>
                  <a:srgbClr val="60A5FA"/>
                </a:solidFill>
                <a:latin typeface="JetBrains Mono Bold"/>
                <a:ea typeface="JetBrains Mono Bold"/>
                <a:cs typeface="JetBrains Mono Bold"/>
                <a:sym typeface="JetBrains Mono Bold"/>
              </a:rPr>
              <a:t>Data Focus</a:t>
            </a:r>
            <a:r>
              <a:rPr lang="en-US" b="false" i="false" strike="noStrike" u="none" sz="1600">
                <a:solidFill>
                  <a:srgbClr val="1F2329"/>
                </a:solidFill>
                <a:latin typeface="Noto Sans SC"/>
                <a:ea typeface="Noto Sans SC"/>
                <a:cs typeface="Noto Sans SC"/>
                <a:sym typeface="Noto Sans SC"/>
              </a:rPr>
              <a:t/>
            </a:r>
          </a:p>
          <a:p>
            <a:pPr algn="ctr" marL="0" indent="0">
              <a:lnSpc>
                <a:spcPct val="116666"/>
              </a:lnSpc>
            </a:pPr>
            <a:r>
              <a:rPr lang="en-US" b="false" i="false" strike="noStrike" u="none" sz="1400">
                <a:solidFill>
                  <a:srgbClr val="E5E7EB"/>
                </a:solidFill>
                <a:latin typeface="JetBrains Mono"/>
                <a:ea typeface="JetBrains Mono"/>
                <a:cs typeface="JetBrains Mono"/>
                <a:sym typeface="JetBrains Mono"/>
              </a:rPr>
              <a:t>Well-defined data model capturing payment lifecycle.</a:t>
            </a:r>
          </a:p>
        </p:txBody>
      </p:sp>
      <p:sp>
        <p:nvSpPr>
          <p:cNvPr name="AutoShape 7" id="7"/>
          <p:cNvSpPr/>
          <p:nvPr/>
        </p:nvSpPr>
        <p:spPr>
          <a:xfrm rot="0" flipH="false" flipV="false">
            <a:off x="6350000" y="4826000"/>
            <a:ext cx="5080000" cy="1778000"/>
          </a:xfrm>
          <a:prstGeom prst="roundRect">
            <a:avLst>
              <a:gd name="adj" fmla="val 5714"/>
            </a:avLst>
          </a:prstGeom>
          <a:solidFill>
            <a:srgbClr val="1F2937">
              <a:alpha val="75000"/>
            </a:srgbClr>
          </a:solidFill>
          <a:ln w="12700" cmpd="sng" cap="flat">
            <a:solidFill>
              <a:srgbClr val="3B82F6">
                <a:alpha val="60000"/>
              </a:srgbClr>
            </a:solidFill>
            <a:prstDash val="solid"/>
            <a:round/>
          </a:ln>
        </p:spPr>
        <p:txBody>
          <a:bodyPr anchor="t" rtlCol="false" anchorCtr="false" vert="horz" wrap="square" lIns="304800" rIns="304800" tIns="254000" bIns="254000"/>
          <a:lstStyle/>
          <a:p>
            <a:pPr algn="ctr" marL="0" indent="0">
              <a:lnSpc>
                <a:spcPct val="116666"/>
              </a:lnSpc>
              <a:defRPr/>
            </a:pPr>
            <a:r>
              <a:rPr lang="en-US" b="false" i="false" strike="noStrike" u="none" sz="28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pPr>
            <a:r>
              <a:rPr lang="en-US" b="true" i="false" strike="noStrike" u="none" sz="1800">
                <a:solidFill>
                  <a:srgbClr val="60A5FA"/>
                </a:solidFill>
                <a:latin typeface="JetBrains Mono Bold"/>
                <a:ea typeface="JetBrains Mono Bold"/>
                <a:cs typeface="JetBrains Mono Bold"/>
                <a:sym typeface="JetBrains Mono Bold"/>
              </a:rPr>
              <a:t>Tech Stack</a:t>
            </a:r>
            <a:r>
              <a:rPr lang="en-US" b="false" i="false" strike="noStrike" u="none" sz="1600">
                <a:solidFill>
                  <a:srgbClr val="1F2329"/>
                </a:solidFill>
                <a:latin typeface="Noto Sans SC"/>
                <a:ea typeface="Noto Sans SC"/>
                <a:cs typeface="Noto Sans SC"/>
                <a:sym typeface="Noto Sans SC"/>
              </a:rPr>
              <a:t/>
            </a:r>
          </a:p>
          <a:p>
            <a:pPr algn="ctr" marL="0" indent="0">
              <a:lnSpc>
                <a:spcPct val="116666"/>
              </a:lnSpc>
            </a:pPr>
            <a:r>
              <a:rPr lang="en-US" b="false" i="false" strike="noStrike" u="none" sz="1400">
                <a:solidFill>
                  <a:srgbClr val="E5E7EB"/>
                </a:solidFill>
                <a:latin typeface="JetBrains Mono"/>
                <a:ea typeface="JetBrains Mono"/>
                <a:cs typeface="JetBrains Mono"/>
                <a:sym typeface="JetBrains Mono"/>
              </a:rPr>
              <a:t>Spring Boot, Java 21, MySQL.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762000"/>
            <a:ext cx="10160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false" i="false" strike="noStrike" u="none" sz="3200">
                <a:solidFill>
                  <a:srgbClr val="FFFFFF"/>
                </a:solidFill>
                <a:latin typeface="JetBrains Mono Bold"/>
                <a:ea typeface="JetBrains Mono Bold"/>
                <a:cs typeface="JetBrains Mono Bold"/>
                <a:sym typeface="JetBrains Mono Bold"/>
              </a:rPr>
              <a:t>02 Technical Architecture</a:t>
            </a:r>
            <a:endParaRPr lang="en-US" sz="1100"/>
          </a:p>
        </p:txBody>
      </p:sp>
      <p:sp>
        <p:nvSpPr>
          <p:cNvPr name="AutoShape 4" id="4"/>
          <p:cNvSpPr/>
          <p:nvPr/>
        </p:nvSpPr>
        <p:spPr>
          <a:xfrm rot="0" flipH="false" flipV="false">
            <a:off x="2286000" y="2286000"/>
            <a:ext cx="7620000" cy="889000"/>
          </a:xfrm>
          <a:prstGeom prst="roundRect">
            <a:avLst>
              <a:gd name="adj" fmla="val 11428"/>
            </a:avLst>
          </a:prstGeom>
          <a:gradFill rotWithShape="true">
            <a:gsLst>
              <a:gs pos="0">
                <a:srgbClr val="2563EB">
                  <a:alpha val="100000"/>
                </a:srgbClr>
              </a:gs>
              <a:gs pos="100000">
                <a:srgbClr val="3B82F6">
                  <a:alpha val="100000"/>
                </a:srgbClr>
              </a:gs>
            </a:gsLst>
            <a:lin ang="0"/>
          </a:gradFill>
          <a:ln w="12700" cmpd="sng" cap="flat">
            <a:solidFill>
              <a:srgbClr val="93C5FD">
                <a:alpha val="80000"/>
              </a:srgbClr>
            </a:solidFill>
            <a:prstDash val="solid"/>
            <a:round/>
          </a:ln>
          <a:effectLst>
            <a:outerShdw dir="5400000" dist="76200" blurRad="254000" algn="tl" rotWithShape="false">
              <a:srgbClr val="000000">
                <a:alpha val="40000"/>
              </a:srgbClr>
            </a:outerShdw>
          </a:effectLst>
        </p:spPr>
        <p:txBody>
          <a:bodyPr anchor="ctr" rtlCol="false" anchorCtr="false" vert="horz" wrap="square" lIns="0" rIns="0" tIns="0" bIns="0"/>
          <a:lstStyle/>
          <a:p>
            <a:pPr algn="ctr" marL="0" indent="0">
              <a:lnSpc>
                <a:spcPct val="108333"/>
              </a:lnSpc>
              <a:defRPr/>
            </a:pPr>
            <a:r>
              <a:rPr lang="en-US" b="false" i="false" strike="noStrike" u="none" sz="2000">
                <a:solidFill>
                  <a:srgbClr val="FFFFFF"/>
                </a:solidFill>
                <a:latin typeface="JetBrains Mono Bold"/>
                <a:ea typeface="JetBrains Mono Bold"/>
                <a:cs typeface="JetBrains Mono Bold"/>
                <a:sym typeface="JetBrains Mono Bold"/>
              </a:rPr>
              <a:t>Controller Layer</a:t>
            </a:r>
            <a:r>
              <a:rPr lang="en-US" b="false" i="false" strike="noStrike" u="none" sz="1800">
                <a:solidFill>
                  <a:srgbClr val="FFFFFF"/>
                </a:solidFill>
                <a:latin typeface="JetBrains Mono Bold"/>
                <a:ea typeface="JetBrains Mono Bold"/>
                <a:cs typeface="JetBrains Mono Bold"/>
                <a:sym typeface="JetBrains Mono Bold"/>
              </a:rPr>
              <a:t/>
            </a:r>
            <a:br>
              <a:rPr lang="en-US" b="false" i="false" strike="noStrike" u="none" sz="1800">
                <a:solidFill>
                  <a:srgbClr val="FFFFFF"/>
                </a:solidFill>
                <a:latin typeface="JetBrains Mono Bold"/>
                <a:ea typeface="JetBrains Mono Bold"/>
                <a:cs typeface="JetBrains Mono Bold"/>
                <a:sym typeface="JetBrains Mono Bold"/>
              </a:rPr>
            </a:br>
            <a:r>
              <a:rPr lang="en-US" b="false" i="false" strike="noStrike" u="none" sz="1400">
                <a:solidFill>
                  <a:srgbClr val="E5E7EB"/>
                </a:solidFill>
                <a:latin typeface="Noto Sans SC"/>
                <a:ea typeface="Noto Sans SC"/>
                <a:cs typeface="Noto Sans SC"/>
                <a:sym typeface="Noto Sans SC"/>
              </a:rPr>
              <a:t>Core: PaymentController</a:t>
            </a:r>
            <a:endParaRPr lang="en-US" sz="1100"/>
          </a:p>
        </p:txBody>
      </p:sp>
      <p:sp>
        <p:nvSpPr>
          <p:cNvPr name="AutoShape 5" id="5"/>
          <p:cNvSpPr/>
          <p:nvPr/>
        </p:nvSpPr>
        <p:spPr>
          <a:xfrm rot="0" flipH="false" flipV="false">
            <a:off x="5842000" y="3302000"/>
            <a:ext cx="508000" cy="381000"/>
          </a:xfrm>
          <a:prstGeom prst="downArrow">
            <a:avLst/>
          </a:prstGeom>
          <a:solidFill>
            <a:srgbClr val="93C5F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2286000" y="3810000"/>
            <a:ext cx="7620000" cy="889000"/>
          </a:xfrm>
          <a:prstGeom prst="roundRect">
            <a:avLst>
              <a:gd name="adj" fmla="val 11428"/>
            </a:avLst>
          </a:prstGeom>
          <a:gradFill rotWithShape="true">
            <a:gsLst>
              <a:gs pos="0">
                <a:srgbClr val="2563EB">
                  <a:alpha val="100000"/>
                </a:srgbClr>
              </a:gs>
              <a:gs pos="100000">
                <a:srgbClr val="3B82F6">
                  <a:alpha val="100000"/>
                </a:srgbClr>
              </a:gs>
            </a:gsLst>
            <a:lin ang="0"/>
          </a:gradFill>
          <a:ln w="12700" cmpd="sng" cap="flat">
            <a:solidFill>
              <a:srgbClr val="93C5FD">
                <a:alpha val="80000"/>
              </a:srgbClr>
            </a:solidFill>
            <a:prstDash val="solid"/>
            <a:round/>
          </a:ln>
          <a:effectLst>
            <a:outerShdw dir="5400000" dist="76200" blurRad="254000" algn="tl" rotWithShape="false">
              <a:srgbClr val="000000">
                <a:alpha val="40000"/>
              </a:srgbClr>
            </a:outerShdw>
          </a:effectLst>
        </p:spPr>
        <p:txBody>
          <a:bodyPr anchor="ctr" rtlCol="false" anchorCtr="false" vert="horz" wrap="square" lIns="0" rIns="0" tIns="0" bIns="0"/>
          <a:lstStyle/>
          <a:p>
            <a:pPr algn="ctr" marL="0" indent="0">
              <a:lnSpc>
                <a:spcPct val="108333"/>
              </a:lnSpc>
              <a:defRPr/>
            </a:pPr>
            <a:r>
              <a:rPr lang="en-US" b="false" i="false" strike="noStrike" u="none" sz="2000">
                <a:solidFill>
                  <a:srgbClr val="FFFFFF"/>
                </a:solidFill>
                <a:latin typeface="JetBrains Mono Bold"/>
                <a:ea typeface="JetBrains Mono Bold"/>
                <a:cs typeface="JetBrains Mono Bold"/>
                <a:sym typeface="JetBrains Mono Bold"/>
              </a:rPr>
              <a:t>Service Layer</a:t>
            </a:r>
            <a:r>
              <a:rPr lang="en-US" b="false" i="false" strike="noStrike" u="none" sz="1800">
                <a:solidFill>
                  <a:srgbClr val="FFFFFF"/>
                </a:solidFill>
                <a:latin typeface="JetBrains Mono Bold"/>
                <a:ea typeface="JetBrains Mono Bold"/>
                <a:cs typeface="JetBrains Mono Bold"/>
                <a:sym typeface="JetBrains Mono Bold"/>
              </a:rPr>
              <a:t/>
            </a:r>
            <a:br>
              <a:rPr lang="en-US" b="false" i="false" strike="noStrike" u="none" sz="1800">
                <a:solidFill>
                  <a:srgbClr val="FFFFFF"/>
                </a:solidFill>
                <a:latin typeface="JetBrains Mono Bold"/>
                <a:ea typeface="JetBrains Mono Bold"/>
                <a:cs typeface="JetBrains Mono Bold"/>
                <a:sym typeface="JetBrains Mono Bold"/>
              </a:rPr>
            </a:br>
            <a:r>
              <a:rPr lang="en-US" b="false" i="false" strike="noStrike" u="none" sz="1400">
                <a:solidFill>
                  <a:srgbClr val="E5E7EB"/>
                </a:solidFill>
                <a:latin typeface="Noto Sans SC"/>
                <a:ea typeface="Noto Sans SC"/>
                <a:cs typeface="Noto Sans SC"/>
                <a:sym typeface="Noto Sans SC"/>
              </a:rPr>
              <a:t>Core: PaymentServiceImpl</a:t>
            </a:r>
            <a:endParaRPr lang="en-US" sz="1100"/>
          </a:p>
        </p:txBody>
      </p:sp>
      <p:sp>
        <p:nvSpPr>
          <p:cNvPr name="AutoShape 7" id="7"/>
          <p:cNvSpPr/>
          <p:nvPr/>
        </p:nvSpPr>
        <p:spPr>
          <a:xfrm rot="0" flipH="false" flipV="false">
            <a:off x="5842000" y="4826000"/>
            <a:ext cx="508000" cy="381000"/>
          </a:xfrm>
          <a:prstGeom prst="downArrow">
            <a:avLst/>
          </a:prstGeom>
          <a:solidFill>
            <a:srgbClr val="93C5F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2286000" y="5334000"/>
            <a:ext cx="7620000" cy="889000"/>
          </a:xfrm>
          <a:prstGeom prst="roundRect">
            <a:avLst>
              <a:gd name="adj" fmla="val 11428"/>
            </a:avLst>
          </a:prstGeom>
          <a:gradFill rotWithShape="true">
            <a:gsLst>
              <a:gs pos="0">
                <a:srgbClr val="2563EB">
                  <a:alpha val="100000"/>
                </a:srgbClr>
              </a:gs>
              <a:gs pos="100000">
                <a:srgbClr val="3B82F6">
                  <a:alpha val="100000"/>
                </a:srgbClr>
              </a:gs>
            </a:gsLst>
            <a:lin ang="0"/>
          </a:gradFill>
          <a:ln w="12700" cmpd="sng" cap="flat">
            <a:solidFill>
              <a:srgbClr val="93C5FD">
                <a:alpha val="80000"/>
              </a:srgbClr>
            </a:solidFill>
            <a:prstDash val="solid"/>
            <a:round/>
          </a:ln>
          <a:effectLst>
            <a:outerShdw dir="5400000" dist="76200" blurRad="254000" algn="tl" rotWithShape="false">
              <a:srgbClr val="000000">
                <a:alpha val="40000"/>
              </a:srgbClr>
            </a:outerShdw>
          </a:effectLst>
        </p:spPr>
        <p:txBody>
          <a:bodyPr anchor="ctr" rtlCol="false" anchorCtr="false" vert="horz" wrap="square" lIns="0" rIns="0" tIns="0" bIns="0"/>
          <a:lstStyle/>
          <a:p>
            <a:pPr algn="ctr" marL="0" indent="0">
              <a:lnSpc>
                <a:spcPct val="108333"/>
              </a:lnSpc>
              <a:defRPr/>
            </a:pPr>
            <a:r>
              <a:rPr lang="en-US" b="false" i="false" strike="noStrike" u="none" sz="2000">
                <a:solidFill>
                  <a:srgbClr val="FFFFFF"/>
                </a:solidFill>
                <a:latin typeface="JetBrains Mono Bold"/>
                <a:ea typeface="JetBrains Mono Bold"/>
                <a:cs typeface="JetBrains Mono Bold"/>
                <a:sym typeface="JetBrains Mono Bold"/>
              </a:rPr>
              <a:t>DAO &amp; Database Layer</a:t>
            </a:r>
            <a:r>
              <a:rPr lang="en-US" b="false" i="false" strike="noStrike" u="none" sz="1800">
                <a:solidFill>
                  <a:srgbClr val="FFFFFF"/>
                </a:solidFill>
                <a:latin typeface="JetBrains Mono Bold"/>
                <a:ea typeface="JetBrains Mono Bold"/>
                <a:cs typeface="JetBrains Mono Bold"/>
                <a:sym typeface="JetBrains Mono Bold"/>
              </a:rPr>
              <a:t/>
            </a:r>
            <a:br>
              <a:rPr lang="en-US" b="false" i="false" strike="noStrike" u="none" sz="1800">
                <a:solidFill>
                  <a:srgbClr val="FFFFFF"/>
                </a:solidFill>
                <a:latin typeface="JetBrains Mono Bold"/>
                <a:ea typeface="JetBrains Mono Bold"/>
                <a:cs typeface="JetBrains Mono Bold"/>
                <a:sym typeface="JetBrains Mono Bold"/>
              </a:rPr>
            </a:br>
            <a:r>
              <a:rPr lang="en-US" b="false" i="false" strike="noStrike" u="none" sz="1400">
                <a:solidFill>
                  <a:srgbClr val="E5E7EB"/>
                </a:solidFill>
                <a:latin typeface="Noto Sans SC"/>
                <a:ea typeface="Noto Sans SC"/>
                <a:cs typeface="Noto Sans SC"/>
                <a:sym typeface="Noto Sans SC"/>
              </a:rPr>
              <a:t>Core: PaymentDao / MySQL (payments, payment_history)</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111827">
              <a:alpha val="8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FFFFFF"/>
                </a:solidFill>
                <a:latin typeface="JetBrains Mono Bold"/>
                <a:ea typeface="JetBrains Mono Bold"/>
                <a:cs typeface="JetBrains Mono Bold"/>
                <a:sym typeface="JetBrains Mono Bold"/>
              </a:rPr>
              <a:t>03 Core Features</a:t>
            </a:r>
            <a:endParaRPr lang="en-US" sz="1100"/>
          </a:p>
        </p:txBody>
      </p:sp>
      <p:sp>
        <p:nvSpPr>
          <p:cNvPr name="AutoShape 4" id="4"/>
          <p:cNvSpPr/>
          <p:nvPr/>
        </p:nvSpPr>
        <p:spPr>
          <a:xfrm rot="0" flipH="false" flipV="false">
            <a:off x="762000" y="2032000"/>
            <a:ext cx="5080000" cy="2286000"/>
          </a:xfrm>
          <a:prstGeom prst="roundRect">
            <a:avLst>
              <a:gd name="adj" fmla="val 6666"/>
            </a:avLst>
          </a:prstGeom>
          <a:solidFill>
            <a:srgbClr val="1F2937">
              <a:alpha val="7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6350000" y="2032000"/>
            <a:ext cx="5080000" cy="2286000"/>
          </a:xfrm>
          <a:prstGeom prst="roundRect">
            <a:avLst>
              <a:gd name="adj" fmla="val 6666"/>
            </a:avLst>
          </a:prstGeom>
          <a:solidFill>
            <a:srgbClr val="1F2937">
              <a:alpha val="7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4318000"/>
            <a:ext cx="5080000" cy="2286000"/>
          </a:xfrm>
          <a:prstGeom prst="roundRect">
            <a:avLst>
              <a:gd name="adj" fmla="val 6666"/>
            </a:avLst>
          </a:prstGeom>
          <a:solidFill>
            <a:srgbClr val="1F2937">
              <a:alpha val="7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0" y="4318000"/>
            <a:ext cx="5080000" cy="2286000"/>
          </a:xfrm>
          <a:prstGeom prst="roundRect">
            <a:avLst>
              <a:gd name="adj" fmla="val 6666"/>
            </a:avLst>
          </a:prstGeom>
          <a:solidFill>
            <a:srgbClr val="1F2937">
              <a:alpha val="7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srcRect l="0" r="0" t="0" b="0"/>
          <a:stretch>
            <a:fillRect/>
          </a:stretch>
        </p:blipFill>
        <p:spPr>
          <a:xfrm rot="0" flipH="false" flipV="false">
            <a:off x="2921000" y="2413000"/>
            <a:ext cx="762000" cy="762000"/>
          </a:xfrm>
          <a:prstGeom prst="rect">
            <a:avLst/>
          </a:prstGeom>
          <a:noFill/>
          <a:ln w="25400" cmpd="sng" cap="flat">
            <a:noFill/>
            <a:prstDash val="solid"/>
            <a:round/>
          </a:ln>
        </p:spPr>
      </p:pic>
      <p:sp>
        <p:nvSpPr>
          <p:cNvPr name="AutoShape 9" id="9"/>
          <p:cNvSpPr/>
          <p:nvPr/>
        </p:nvSpPr>
        <p:spPr>
          <a:xfrm rot="0" flipH="false" flipV="false">
            <a:off x="762000" y="3429000"/>
            <a:ext cx="508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FFFFFF"/>
                </a:solidFill>
                <a:latin typeface="JetBrains Mono Bold"/>
                <a:ea typeface="JetBrains Mono Bold"/>
                <a:cs typeface="JetBrains Mono Bold"/>
                <a:sym typeface="JetBrains Mono Bold"/>
              </a:rPr>
              <a:t>Create</a:t>
            </a:r>
            <a:endParaRPr lang="en-US" sz="1100"/>
          </a:p>
        </p:txBody>
      </p:sp>
      <p:sp>
        <p:nvSpPr>
          <p:cNvPr name="AutoShape 10" id="10"/>
          <p:cNvSpPr/>
          <p:nvPr/>
        </p:nvSpPr>
        <p:spPr>
          <a:xfrm rot="0" flipH="false" flipV="false">
            <a:off x="762000" y="3873500"/>
            <a:ext cx="508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59E0B"/>
                </a:solidFill>
                <a:latin typeface="JetBrains Mono"/>
                <a:ea typeface="JetBrains Mono"/>
                <a:cs typeface="JetBrains Mono"/>
                <a:sym typeface="JetBrains Mono"/>
              </a:rPr>
              <a:t>Owner: A</a:t>
            </a:r>
            <a:endParaRPr lang="en-US" sz="1100"/>
          </a:p>
        </p:txBody>
      </p:sp>
      <p:pic>
        <p:nvPicPr>
          <p:cNvPr name="Picture 11" id="11"/>
          <p:cNvPicPr>
            <a:picLocks noChangeAspect="true"/>
          </p:cNvPicPr>
          <p:nvPr/>
        </p:nvPicPr>
        <p:blipFill>
          <a:blip r:embed="rId4"/>
          <a:srcRect l="0" r="0" t="0" b="0"/>
          <a:stretch>
            <a:fillRect/>
          </a:stretch>
        </p:blipFill>
        <p:spPr>
          <a:xfrm rot="0" flipH="false" flipV="false">
            <a:off x="8509000" y="2413000"/>
            <a:ext cx="762000" cy="762000"/>
          </a:xfrm>
          <a:prstGeom prst="rect">
            <a:avLst/>
          </a:prstGeom>
          <a:noFill/>
          <a:ln w="25400" cmpd="sng" cap="flat">
            <a:noFill/>
            <a:prstDash val="solid"/>
            <a:round/>
          </a:ln>
        </p:spPr>
      </p:pic>
      <p:sp>
        <p:nvSpPr>
          <p:cNvPr name="AutoShape 12" id="12"/>
          <p:cNvSpPr/>
          <p:nvPr/>
        </p:nvSpPr>
        <p:spPr>
          <a:xfrm rot="0" flipH="false" flipV="false">
            <a:off x="6350000" y="3429000"/>
            <a:ext cx="508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FFFFFF"/>
                </a:solidFill>
                <a:latin typeface="JetBrains Mono Bold"/>
                <a:ea typeface="JetBrains Mono Bold"/>
                <a:cs typeface="JetBrains Mono Bold"/>
                <a:sym typeface="JetBrains Mono Bold"/>
              </a:rPr>
              <a:t>Detail</a:t>
            </a:r>
            <a:endParaRPr lang="en-US" sz="1100"/>
          </a:p>
        </p:txBody>
      </p:sp>
      <p:sp>
        <p:nvSpPr>
          <p:cNvPr name="AutoShape 13" id="13"/>
          <p:cNvSpPr/>
          <p:nvPr/>
        </p:nvSpPr>
        <p:spPr>
          <a:xfrm rot="0" flipH="false" flipV="false">
            <a:off x="6350000" y="3873500"/>
            <a:ext cx="508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59E0B"/>
                </a:solidFill>
                <a:latin typeface="JetBrains Mono"/>
                <a:ea typeface="JetBrains Mono"/>
                <a:cs typeface="JetBrains Mono"/>
                <a:sym typeface="JetBrains Mono"/>
              </a:rPr>
              <a:t>Owner: B</a:t>
            </a:r>
            <a:endParaRPr lang="en-US" sz="1100"/>
          </a:p>
        </p:txBody>
      </p:sp>
      <p:pic>
        <p:nvPicPr>
          <p:cNvPr name="Picture 14" id="14"/>
          <p:cNvPicPr>
            <a:picLocks noChangeAspect="true"/>
          </p:cNvPicPr>
          <p:nvPr/>
        </p:nvPicPr>
        <p:blipFill>
          <a:blip r:embed="rId5"/>
          <a:srcRect l="0" r="0" t="0" b="0"/>
          <a:stretch>
            <a:fillRect/>
          </a:stretch>
        </p:blipFill>
        <p:spPr>
          <a:xfrm rot="0" flipH="false" flipV="false">
            <a:off x="2921000" y="4699000"/>
            <a:ext cx="762000" cy="762000"/>
          </a:xfrm>
          <a:prstGeom prst="rect">
            <a:avLst/>
          </a:prstGeom>
          <a:noFill/>
          <a:ln w="25400" cmpd="sng" cap="flat">
            <a:noFill/>
            <a:prstDash val="solid"/>
            <a:round/>
          </a:ln>
        </p:spPr>
      </p:pic>
      <p:sp>
        <p:nvSpPr>
          <p:cNvPr name="AutoShape 15" id="15"/>
          <p:cNvSpPr/>
          <p:nvPr/>
        </p:nvSpPr>
        <p:spPr>
          <a:xfrm rot="0" flipH="false" flipV="false">
            <a:off x="762000" y="5715000"/>
            <a:ext cx="508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FFFFFF"/>
                </a:solidFill>
                <a:latin typeface="JetBrains Mono Bold"/>
                <a:ea typeface="JetBrains Mono Bold"/>
                <a:cs typeface="JetBrains Mono Bold"/>
                <a:sym typeface="JetBrains Mono Bold"/>
              </a:rPr>
              <a:t>Query</a:t>
            </a:r>
            <a:endParaRPr lang="en-US" sz="1100"/>
          </a:p>
        </p:txBody>
      </p:sp>
      <p:sp>
        <p:nvSpPr>
          <p:cNvPr name="AutoShape 16" id="16"/>
          <p:cNvSpPr/>
          <p:nvPr/>
        </p:nvSpPr>
        <p:spPr>
          <a:xfrm rot="0" flipH="false" flipV="false">
            <a:off x="762000" y="6159500"/>
            <a:ext cx="508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59E0B"/>
                </a:solidFill>
                <a:latin typeface="JetBrains Mono"/>
                <a:ea typeface="JetBrains Mono"/>
                <a:cs typeface="JetBrains Mono"/>
                <a:sym typeface="JetBrains Mono"/>
              </a:rPr>
              <a:t>Owner: C</a:t>
            </a:r>
            <a:endParaRPr lang="en-US" sz="1100"/>
          </a:p>
        </p:txBody>
      </p:sp>
      <p:pic>
        <p:nvPicPr>
          <p:cNvPr name="Picture 17" id="17"/>
          <p:cNvPicPr>
            <a:picLocks noChangeAspect="true"/>
          </p:cNvPicPr>
          <p:nvPr/>
        </p:nvPicPr>
        <p:blipFill>
          <a:blip r:embed="rId6"/>
          <a:srcRect l="0" r="0" t="0" b="0"/>
          <a:stretch>
            <a:fillRect/>
          </a:stretch>
        </p:blipFill>
        <p:spPr>
          <a:xfrm rot="0" flipH="false" flipV="false">
            <a:off x="8509000" y="4699000"/>
            <a:ext cx="762000" cy="762000"/>
          </a:xfrm>
          <a:prstGeom prst="rect">
            <a:avLst/>
          </a:prstGeom>
          <a:noFill/>
          <a:ln w="25400" cmpd="sng" cap="flat">
            <a:noFill/>
            <a:prstDash val="solid"/>
            <a:round/>
          </a:ln>
        </p:spPr>
      </p:pic>
      <p:sp>
        <p:nvSpPr>
          <p:cNvPr name="AutoShape 18" id="18"/>
          <p:cNvSpPr/>
          <p:nvPr/>
        </p:nvSpPr>
        <p:spPr>
          <a:xfrm rot="0" flipH="false" flipV="false">
            <a:off x="6350000" y="5715000"/>
            <a:ext cx="508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FFFFFF"/>
                </a:solidFill>
                <a:latin typeface="JetBrains Mono Bold"/>
                <a:ea typeface="JetBrains Mono Bold"/>
                <a:cs typeface="JetBrains Mono Bold"/>
                <a:sym typeface="JetBrains Mono Bold"/>
              </a:rPr>
              <a:t>History</a:t>
            </a:r>
            <a:endParaRPr lang="en-US" sz="1100"/>
          </a:p>
        </p:txBody>
      </p:sp>
      <p:sp>
        <p:nvSpPr>
          <p:cNvPr name="AutoShape 19" id="19"/>
          <p:cNvSpPr/>
          <p:nvPr/>
        </p:nvSpPr>
        <p:spPr>
          <a:xfrm rot="0" flipH="false" flipV="false">
            <a:off x="6350000" y="6159500"/>
            <a:ext cx="508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59E0B"/>
                </a:solidFill>
                <a:latin typeface="JetBrains Mono"/>
                <a:ea typeface="JetBrains Mono"/>
                <a:cs typeface="JetBrains Mono"/>
                <a:sym typeface="JetBrains Mono"/>
              </a:rPr>
              <a:t>Owner: D</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111827">
              <a:alpha val="85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t" rtlCol="false" anchorCtr="false" vert="horz" wrap="square" lIns="0" rIns="0" tIns="0" bIns="0"/>
          <a:lstStyle/>
          <a:p>
            <a:pPr algn="l" marL="0" indent="0">
              <a:lnSpc>
                <a:spcPct val="91666"/>
              </a:lnSpc>
              <a:defRPr/>
            </a:pPr>
            <a:r>
              <a:rPr lang="en-US" b="false" i="false" strike="noStrike" u="none" sz="3200">
                <a:solidFill>
                  <a:srgbClr val="FFFFFF"/>
                </a:solidFill>
                <a:latin typeface="JetBrains Mono Bold"/>
                <a:ea typeface="JetBrains Mono Bold"/>
                <a:cs typeface="JetBrains Mono Bold"/>
                <a:sym typeface="JetBrains Mono Bold"/>
              </a:rPr>
              <a:t>04 API Endpoints</a:t>
            </a:r>
            <a:endParaRPr lang="en-US" sz="1100"/>
          </a:p>
        </p:txBody>
      </p:sp>
      <p:sp>
        <p:nvSpPr>
          <p:cNvPr name="AutoShape 4" id="4"/>
          <p:cNvSpPr/>
          <p:nvPr/>
        </p:nvSpPr>
        <p:spPr>
          <a:xfrm rot="0" flipH="false" flipV="false">
            <a:off x="762000" y="1905000"/>
            <a:ext cx="5080000" cy="2286000"/>
          </a:xfrm>
          <a:prstGeom prst="roundRect">
            <a:avLst>
              <a:gd name="adj" fmla="val 0"/>
            </a:avLst>
          </a:prstGeom>
          <a:solidFill>
            <a:srgbClr val="1E293B">
              <a:alpha val="70000"/>
            </a:srgbClr>
          </a:solidFill>
          <a:ln w="12700" cmpd="sng" cap="flat">
            <a:solidFill>
              <a:srgbClr val="475569">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095500"/>
            <a:ext cx="4572000" cy="1905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800">
                <a:solidFill>
                  <a:srgbClr val="60A5FA"/>
                </a:solidFill>
                <a:latin typeface="JetBrains Mono Bold"/>
                <a:ea typeface="JetBrains Mono Bold"/>
                <a:cs typeface="JetBrains Mono Bold"/>
                <a:sym typeface="JetBrains Mono Bold"/>
              </a:rPr>
              <a:t>GET /api/payments/{id}</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E2E8F0"/>
                </a:solidFill>
                <a:latin typeface="JetBrains Mono"/>
                <a:ea typeface="JetBrains Mono"/>
                <a:cs typeface="JetBrains Mono"/>
                <a:sym typeface="JetBrains Mono"/>
              </a:rPr>
              <a:t>Retrieves the detailed information of a specific payment order.</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94A3B8"/>
                </a:solidFill>
                <a:latin typeface="JetBrains Mono"/>
                <a:ea typeface="JetBrains Mono"/>
                <a:cs typeface="JetBrains Mono"/>
                <a:sym typeface="JetBrains Mono"/>
              </a:rPr>
              <a:t>Status: 200 OK, 404 Not Found</a:t>
            </a:r>
          </a:p>
        </p:txBody>
      </p:sp>
      <p:sp>
        <p:nvSpPr>
          <p:cNvPr name="AutoShape 6" id="6"/>
          <p:cNvSpPr/>
          <p:nvPr/>
        </p:nvSpPr>
        <p:spPr>
          <a:xfrm rot="0" flipH="false" flipV="false">
            <a:off x="6350000" y="1905000"/>
            <a:ext cx="5080000" cy="2286000"/>
          </a:xfrm>
          <a:prstGeom prst="roundRect">
            <a:avLst>
              <a:gd name="adj" fmla="val 0"/>
            </a:avLst>
          </a:prstGeom>
          <a:solidFill>
            <a:srgbClr val="1E293B">
              <a:alpha val="70000"/>
            </a:srgbClr>
          </a:solidFill>
          <a:ln w="12700" cmpd="sng" cap="flat">
            <a:solidFill>
              <a:srgbClr val="475569">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604000" y="2095500"/>
            <a:ext cx="4572000" cy="1905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800">
                <a:solidFill>
                  <a:srgbClr val="60A5FA"/>
                </a:solidFill>
                <a:latin typeface="JetBrains Mono Bold"/>
                <a:ea typeface="JetBrains Mono Bold"/>
                <a:cs typeface="JetBrains Mono Bold"/>
                <a:sym typeface="JetBrains Mono Bold"/>
              </a:rPr>
              <a:t>GET /api/payments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E2E8F0"/>
                </a:solidFill>
                <a:latin typeface="JetBrains Mono"/>
                <a:ea typeface="JetBrains Mono"/>
                <a:cs typeface="JetBrains Mono"/>
                <a:sym typeface="JetBrains Mono"/>
              </a:rPr>
              <a:t>Retrieves a paginated list of payment orders, optionally filtered by status.</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94A3B8"/>
                </a:solidFill>
                <a:latin typeface="JetBrains Mono"/>
                <a:ea typeface="JetBrains Mono"/>
                <a:cs typeface="JetBrains Mono"/>
                <a:sym typeface="JetBrains Mono"/>
              </a:rPr>
              <a:t>Status: 200 OK</a:t>
            </a:r>
          </a:p>
        </p:txBody>
      </p:sp>
      <p:sp>
        <p:nvSpPr>
          <p:cNvPr name="AutoShape 8" id="8"/>
          <p:cNvSpPr/>
          <p:nvPr/>
        </p:nvSpPr>
        <p:spPr>
          <a:xfrm rot="0" flipH="false" flipV="false">
            <a:off x="762000" y="4445000"/>
            <a:ext cx="5080000" cy="1905000"/>
          </a:xfrm>
          <a:prstGeom prst="roundRect">
            <a:avLst>
              <a:gd name="adj" fmla="val 0"/>
            </a:avLst>
          </a:prstGeom>
          <a:solidFill>
            <a:srgbClr val="1E293B">
              <a:alpha val="70000"/>
            </a:srgbClr>
          </a:solidFill>
          <a:ln w="12700" cmpd="sng" cap="flat">
            <a:solidFill>
              <a:srgbClr val="475569">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4635500"/>
            <a:ext cx="4572000" cy="1524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800">
                <a:solidFill>
                  <a:srgbClr val="60A5FA"/>
                </a:solidFill>
                <a:latin typeface="JetBrains Mono Bold"/>
                <a:ea typeface="JetBrains Mono Bold"/>
                <a:cs typeface="JetBrains Mono Bold"/>
                <a:sym typeface="JetBrains Mono Bold"/>
              </a:rPr>
              <a:t>POST /api/payments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E2E8F0"/>
                </a:solidFill>
                <a:latin typeface="JetBrains Mono"/>
                <a:ea typeface="JetBrains Mono"/>
                <a:cs typeface="JetBrains Mono"/>
                <a:sym typeface="JetBrains Mono"/>
              </a:rPr>
              <a:t>Creates a new payment order with the provided details.</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94A3B8"/>
                </a:solidFill>
                <a:latin typeface="JetBrains Mono"/>
                <a:ea typeface="JetBrains Mono"/>
                <a:cs typeface="JetBrains Mono"/>
                <a:sym typeface="JetBrains Mono"/>
              </a:rPr>
              <a:t>Status: 201 Created, 400 Bad Request</a:t>
            </a:r>
          </a:p>
        </p:txBody>
      </p:sp>
      <p:sp>
        <p:nvSpPr>
          <p:cNvPr name="AutoShape 10" id="10"/>
          <p:cNvSpPr/>
          <p:nvPr/>
        </p:nvSpPr>
        <p:spPr>
          <a:xfrm rot="0" flipH="false" flipV="false">
            <a:off x="6350000" y="4445000"/>
            <a:ext cx="5080000" cy="1905000"/>
          </a:xfrm>
          <a:prstGeom prst="roundRect">
            <a:avLst>
              <a:gd name="adj" fmla="val 0"/>
            </a:avLst>
          </a:prstGeom>
          <a:solidFill>
            <a:srgbClr val="1E293B">
              <a:alpha val="70000"/>
            </a:srgbClr>
          </a:solidFill>
          <a:ln w="12700" cmpd="sng" cap="flat">
            <a:solidFill>
              <a:srgbClr val="475569">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04000" y="4635500"/>
            <a:ext cx="4572000" cy="1524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800">
                <a:solidFill>
                  <a:srgbClr val="60A5FA"/>
                </a:solidFill>
                <a:latin typeface="JetBrains Mono Bold"/>
                <a:ea typeface="JetBrains Mono Bold"/>
                <a:cs typeface="JetBrains Mono Bold"/>
                <a:sym typeface="JetBrains Mono Bold"/>
              </a:rPr>
              <a:t>PUT /api/payments/{id}</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E2E8F0"/>
                </a:solidFill>
                <a:latin typeface="JetBrains Mono"/>
                <a:ea typeface="JetBrains Mono"/>
                <a:cs typeface="JetBrains Mono"/>
                <a:sym typeface="JetBrains Mono"/>
              </a:rPr>
              <a:t>Updates the status or details of an existing payment order.</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94A3B8"/>
                </a:solidFill>
                <a:latin typeface="JetBrains Mono"/>
                <a:ea typeface="JetBrains Mono"/>
                <a:cs typeface="JetBrains Mono"/>
                <a:sym typeface="JetBrains Mono"/>
              </a:rPr>
              <a:t>Status: 200 OK, 404 Not Found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91666"/>
              </a:lnSpc>
              <a:defRPr/>
            </a:pPr>
            <a:r>
              <a:rPr lang="en-US" b="true" i="false" strike="noStrike" u="none" sz="3200">
                <a:solidFill>
                  <a:srgbClr val="FFFFFF"/>
                </a:solidFill>
                <a:latin typeface="JetBrains Mono Bold"/>
                <a:ea typeface="JetBrains Mono Bold"/>
                <a:cs typeface="JetBrains Mono Bold"/>
                <a:sym typeface="JetBrains Mono Bold"/>
              </a:rPr>
              <a:t>05 Data Model</a:t>
            </a:r>
            <a:endParaRPr lang="en-US" sz="1100"/>
          </a:p>
        </p:txBody>
      </p:sp>
      <p:graphicFrame>
        <p:nvGraphicFramePr>
          <p:cNvPr name="Table 4" id="4"/>
          <p:cNvGraphicFramePr>
            <a:graphicFrameLocks noGrp="true"/>
          </p:cNvGraphicFramePr>
          <p:nvPr/>
        </p:nvGraphicFramePr>
        <p:xfrm>
          <a:off x="762000" y="1524000"/>
          <a:ext cx="10668000" cy="2438400"/>
        </p:xfrm>
        <a:graphic>
          <a:graphicData uri="http://schemas.openxmlformats.org/drawingml/2006/table">
            <a:tbl>
              <a:tblPr>
                <a:effectLst/>
              </a:tblPr>
              <a:tblGrid>
                <a:gridCol w="2032000"/>
                <a:gridCol w="2286000"/>
                <a:gridCol w="6350000"/>
              </a:tblGrid>
              <a:tr h="508000">
                <a:tc>
                  <a:txBody>
                    <a:bodyPr anchor="t" rtlCol="false"/>
                    <a:lstStyle/>
                    <a:p>
                      <a:pPr algn="ctr" marL="0" indent="0">
                        <a:lnSpc>
                          <a:spcPct val="100000"/>
                        </a:lnSpc>
                        <a:defRPr/>
                      </a:pPr>
                      <a:r>
                        <a:rPr lang="en-US" b="true" i="false" strike="noStrike" u="none" sz="1600">
                          <a:solidFill>
                            <a:srgbClr val="FFFFFF"/>
                          </a:solidFill>
                          <a:latin typeface="JetBrains Mono Bold"/>
                          <a:ea typeface="JetBrains Mono Bold"/>
                          <a:cs typeface="JetBrains Mono Bold"/>
                          <a:sym typeface="JetBrains Mono Bold"/>
                        </a:rPr>
                        <a:t>Field</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JetBrains Mono Bold"/>
                          <a:ea typeface="JetBrains Mono Bold"/>
                          <a:cs typeface="JetBrains Mono Bold"/>
                          <a:sym typeface="JetBrains Mono Bold"/>
                        </a:rPr>
                        <a:t>Type</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l" marL="0" indent="0">
                        <a:lnSpc>
                          <a:spcPct val="100000"/>
                        </a:lnSpc>
                        <a:defRPr/>
                      </a:pPr>
                      <a:r>
                        <a:rPr lang="en-US" b="true" i="false" strike="noStrike" u="none" sz="1600">
                          <a:solidFill>
                            <a:srgbClr val="FFFFFF"/>
                          </a:solidFill>
                          <a:latin typeface="Inter"/>
                          <a:ea typeface="Inter"/>
                          <a:cs typeface="Inter"/>
                          <a:sym typeface="Inter"/>
                        </a:rPr>
                        <a:t>Description</a:t>
                      </a:r>
                      <a:endParaRPr lang="en-US" sz="1100"/>
                    </a:p>
                  </a:txBody>
                  <a:tcPr anchor="ctr" anchorCtr="false" marL="254000" marR="101600" marT="101600" marB="101600">
                    <a:lnL>
                      <a:noFill/>
                    </a:lnL>
                    <a:lnR>
                      <a:noFill/>
                    </a:lnR>
                    <a:lnT>
                      <a:noFill/>
                    </a:lnT>
                    <a:lnB>
                      <a:noFill/>
                    </a:lnB>
                    <a:solidFill>
                      <a:srgbClr val="3B82F6">
                        <a:alpha val="100000"/>
                      </a:srgbClr>
                    </a:solidFill>
                  </a:tcPr>
                </a:tc>
              </a:tr>
              <a:tr h="482600">
                <a:tc>
                  <a:txBody>
                    <a:bodyPr anchor="t" rtlCol="false"/>
                    <a:lstStyle/>
                    <a:p>
                      <a:pPr algn="ctr" marL="0" indent="0">
                        <a:lnSpc>
                          <a:spcPct val="100000"/>
                        </a:lnSpc>
                        <a:defRPr/>
                      </a:pPr>
                      <a:r>
                        <a:rPr lang="en-US" b="false" i="false" strike="noStrike" u="none" sz="1400">
                          <a:solidFill>
                            <a:srgbClr val="FFFFFF"/>
                          </a:solidFill>
                          <a:latin typeface="JetBrains Mono"/>
                          <a:ea typeface="JetBrains Mono"/>
                          <a:cs typeface="JetBrains Mono"/>
                          <a:sym typeface="JetBrains Mono"/>
                        </a:rPr>
                        <a:t>id</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ctr" marL="0" indent="0">
                        <a:lnSpc>
                          <a:spcPct val="100000"/>
                        </a:lnSpc>
                        <a:defRPr/>
                      </a:pPr>
                      <a:r>
                        <a:rPr lang="en-US" b="false" i="false" strike="noStrike" u="none" sz="1400">
                          <a:solidFill>
                            <a:srgbClr val="93C5FD"/>
                          </a:solidFill>
                          <a:latin typeface="JetBrains Mono"/>
                          <a:ea typeface="JetBrains Mono"/>
                          <a:cs typeface="JetBrains Mono"/>
                          <a:sym typeface="JetBrains Mono"/>
                        </a:rPr>
                        <a:t>Long</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l" marL="0" indent="0">
                        <a:lnSpc>
                          <a:spcPct val="100000"/>
                        </a:lnSpc>
                        <a:defRPr/>
                      </a:pPr>
                      <a:r>
                        <a:rPr lang="en-US" b="false" i="false" strike="noStrike" u="none" sz="1400">
                          <a:solidFill>
                            <a:srgbClr val="E2E8F0">
                              <a:alpha val="90196"/>
                            </a:srgbClr>
                          </a:solidFill>
                          <a:latin typeface="Inter"/>
                          <a:ea typeface="Inter"/>
                          <a:cs typeface="Inter"/>
                          <a:sym typeface="Inter"/>
                        </a:rPr>
                        <a:t>Primary key, auto-incremented unique identifier.</a:t>
                      </a:r>
                      <a:endParaRPr lang="en-US" sz="1100"/>
                    </a:p>
                  </a:txBody>
                  <a:tcPr anchor="ctr" anchorCtr="false" marL="254000" marR="101600" marT="101600" marB="101600">
                    <a:lnL>
                      <a:noFill/>
                    </a:lnL>
                    <a:lnR>
                      <a:noFill/>
                    </a:lnR>
                    <a:lnT>
                      <a:noFill/>
                    </a:lnT>
                    <a:lnB>
                      <a:noFill/>
                    </a:lnB>
                    <a:solidFill>
                      <a:srgbClr val="0F172A">
                        <a:alpha val="70000"/>
                      </a:srgbClr>
                    </a:solidFill>
                  </a:tcPr>
                </a:tc>
              </a:tr>
              <a:tr h="482600">
                <a:tc>
                  <a:txBody>
                    <a:bodyPr anchor="t" rtlCol="false"/>
                    <a:lstStyle/>
                    <a:p>
                      <a:pPr algn="ctr" marL="0" indent="0">
                        <a:lnSpc>
                          <a:spcPct val="100000"/>
                        </a:lnSpc>
                        <a:defRPr/>
                      </a:pPr>
                      <a:r>
                        <a:rPr lang="en-US" b="false" i="false" strike="noStrike" u="none" sz="1400">
                          <a:solidFill>
                            <a:srgbClr val="FFFFFF"/>
                          </a:solidFill>
                          <a:latin typeface="JetBrains Mono"/>
                          <a:ea typeface="JetBrains Mono"/>
                          <a:cs typeface="JetBrains Mono"/>
                          <a:sym typeface="JetBrains Mono"/>
                        </a:rPr>
                        <a:t>status</a:t>
                      </a:r>
                      <a:endParaRPr lang="en-US" sz="1100"/>
                    </a:p>
                  </a:txBody>
                  <a:tcPr anchor="ctr" anchorCtr="false" marL="101600" marR="101600" marT="101600" marB="101600">
                    <a:lnL>
                      <a:noFill/>
                    </a:lnL>
                    <a:lnR>
                      <a:noFill/>
                    </a:lnR>
                    <a:lnT>
                      <a:noFill/>
                    </a:lnT>
                    <a:lnB>
                      <a:noFill/>
                    </a:lnB>
                    <a:solidFill>
                      <a:srgbClr val="1E293B">
                        <a:alpha val="70000"/>
                      </a:srgbClr>
                    </a:solidFill>
                  </a:tcPr>
                </a:tc>
                <a:tc>
                  <a:txBody>
                    <a:bodyPr anchor="t" rtlCol="false"/>
                    <a:lstStyle/>
                    <a:p>
                      <a:pPr algn="ctr" marL="0" indent="0">
                        <a:lnSpc>
                          <a:spcPct val="100000"/>
                        </a:lnSpc>
                        <a:defRPr/>
                      </a:pPr>
                      <a:r>
                        <a:rPr lang="en-US" b="false" i="false" strike="noStrike" u="none" sz="1400">
                          <a:solidFill>
                            <a:srgbClr val="93C5FD"/>
                          </a:solidFill>
                          <a:latin typeface="JetBrains Mono"/>
                          <a:ea typeface="JetBrains Mono"/>
                          <a:cs typeface="JetBrains Mono"/>
                          <a:sym typeface="JetBrains Mono"/>
                        </a:rPr>
                        <a:t>String</a:t>
                      </a:r>
                      <a:endParaRPr lang="en-US" sz="1100"/>
                    </a:p>
                  </a:txBody>
                  <a:tcPr anchor="ctr" anchorCtr="false" marL="101600" marR="101600" marT="101600" marB="101600">
                    <a:lnL>
                      <a:noFill/>
                    </a:lnL>
                    <a:lnR>
                      <a:noFill/>
                    </a:lnR>
                    <a:lnT>
                      <a:noFill/>
                    </a:lnT>
                    <a:lnB>
                      <a:noFill/>
                    </a:lnB>
                    <a:solidFill>
                      <a:srgbClr val="1E293B">
                        <a:alpha val="70000"/>
                      </a:srgbClr>
                    </a:solidFill>
                  </a:tcPr>
                </a:tc>
                <a:tc>
                  <a:txBody>
                    <a:bodyPr anchor="t" rtlCol="false"/>
                    <a:lstStyle/>
                    <a:p>
                      <a:pPr algn="l" marL="0" indent="0">
                        <a:lnSpc>
                          <a:spcPct val="100000"/>
                        </a:lnSpc>
                        <a:defRPr/>
                      </a:pPr>
                      <a:r>
                        <a:rPr lang="en-US" b="false" i="false" strike="noStrike" u="none" sz="1400">
                          <a:solidFill>
                            <a:srgbClr val="E2E8F0">
                              <a:alpha val="90196"/>
                            </a:srgbClr>
                          </a:solidFill>
                          <a:latin typeface="Inter"/>
                          <a:ea typeface="Inter"/>
                          <a:cs typeface="Inter"/>
                          <a:sym typeface="Inter"/>
                        </a:rPr>
                        <a:t>Current status (e.g., CREATED, COMPLETED, FAILED).</a:t>
                      </a:r>
                      <a:endParaRPr lang="en-US" sz="1100"/>
                    </a:p>
                  </a:txBody>
                  <a:tcPr anchor="ctr" anchorCtr="false" marL="254000" marR="101600" marT="101600" marB="101600">
                    <a:lnL>
                      <a:noFill/>
                    </a:lnL>
                    <a:lnR>
                      <a:noFill/>
                    </a:lnR>
                    <a:lnT>
                      <a:noFill/>
                    </a:lnT>
                    <a:lnB>
                      <a:noFill/>
                    </a:lnB>
                    <a:solidFill>
                      <a:srgbClr val="1E293B">
                        <a:alpha val="70000"/>
                      </a:srgbClr>
                    </a:solidFill>
                  </a:tcPr>
                </a:tc>
              </a:tr>
              <a:tr h="482600">
                <a:tc>
                  <a:txBody>
                    <a:bodyPr anchor="t" rtlCol="false"/>
                    <a:lstStyle/>
                    <a:p>
                      <a:pPr algn="ctr" marL="0" indent="0">
                        <a:lnSpc>
                          <a:spcPct val="100000"/>
                        </a:lnSpc>
                        <a:defRPr/>
                      </a:pPr>
                      <a:r>
                        <a:rPr lang="en-US" b="false" i="false" strike="noStrike" u="none" sz="1400">
                          <a:solidFill>
                            <a:srgbClr val="FFFFFF"/>
                          </a:solidFill>
                          <a:latin typeface="JetBrains Mono"/>
                          <a:ea typeface="JetBrains Mono"/>
                          <a:cs typeface="JetBrains Mono"/>
                          <a:sym typeface="JetBrains Mono"/>
                        </a:rPr>
                        <a:t>amount</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ctr" marL="0" indent="0">
                        <a:lnSpc>
                          <a:spcPct val="100000"/>
                        </a:lnSpc>
                        <a:defRPr/>
                      </a:pPr>
                      <a:r>
                        <a:rPr lang="en-US" b="false" i="false" strike="noStrike" u="none" sz="1400">
                          <a:solidFill>
                            <a:srgbClr val="93C5FD"/>
                          </a:solidFill>
                          <a:latin typeface="JetBrains Mono"/>
                          <a:ea typeface="JetBrains Mono"/>
                          <a:cs typeface="JetBrains Mono"/>
                          <a:sym typeface="JetBrains Mono"/>
                        </a:rPr>
                        <a:t>BigDecimal</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l" marL="0" indent="0">
                        <a:lnSpc>
                          <a:spcPct val="100000"/>
                        </a:lnSpc>
                        <a:defRPr/>
                      </a:pPr>
                      <a:r>
                        <a:rPr lang="en-US" b="false" i="false" strike="noStrike" u="none" sz="1400">
                          <a:solidFill>
                            <a:srgbClr val="E2E8F0">
                              <a:alpha val="90196"/>
                            </a:srgbClr>
                          </a:solidFill>
                          <a:latin typeface="Inter"/>
                          <a:ea typeface="Inter"/>
                          <a:cs typeface="Inter"/>
                          <a:sym typeface="Inter"/>
                        </a:rPr>
                        <a:t>Payment amount.</a:t>
                      </a:r>
                      <a:endParaRPr lang="en-US" sz="1100"/>
                    </a:p>
                  </a:txBody>
                  <a:tcPr anchor="ctr" anchorCtr="false" marL="254000" marR="101600" marT="101600" marB="101600">
                    <a:lnL>
                      <a:noFill/>
                    </a:lnL>
                    <a:lnR>
                      <a:noFill/>
                    </a:lnR>
                    <a:lnT>
                      <a:noFill/>
                    </a:lnT>
                    <a:lnB>
                      <a:noFill/>
                    </a:lnB>
                    <a:solidFill>
                      <a:srgbClr val="0F172A">
                        <a:alpha val="70000"/>
                      </a:srgbClr>
                    </a:solidFill>
                  </a:tcPr>
                </a:tc>
              </a:tr>
              <a:tr h="482600">
                <a:tc>
                  <a:txBody>
                    <a:bodyPr anchor="t" rtlCol="false"/>
                    <a:lstStyle/>
                    <a:p>
                      <a:pPr algn="ctr" marL="0" indent="0">
                        <a:lnSpc>
                          <a:spcPct val="100000"/>
                        </a:lnSpc>
                        <a:defRPr/>
                      </a:pPr>
                      <a:r>
                        <a:rPr lang="en-US" b="false" i="false" strike="noStrike" u="none" sz="1400">
                          <a:solidFill>
                            <a:srgbClr val="FFFFFF"/>
                          </a:solidFill>
                          <a:latin typeface="JetBrains Mono"/>
                          <a:ea typeface="JetBrains Mono"/>
                          <a:cs typeface="JetBrains Mono"/>
                          <a:sym typeface="JetBrains Mono"/>
                        </a:rPr>
                        <a:t>createdAt</a:t>
                      </a:r>
                      <a:endParaRPr lang="en-US" sz="1100"/>
                    </a:p>
                  </a:txBody>
                  <a:tcPr anchor="ctr" anchorCtr="false" marL="101600" marR="101600" marT="101600" marB="101600">
                    <a:lnL>
                      <a:noFill/>
                    </a:lnL>
                    <a:lnR>
                      <a:noFill/>
                    </a:lnR>
                    <a:lnT>
                      <a:noFill/>
                    </a:lnT>
                    <a:lnB>
                      <a:noFill/>
                    </a:lnB>
                    <a:solidFill>
                      <a:srgbClr val="1E293B">
                        <a:alpha val="70000"/>
                      </a:srgbClr>
                    </a:solidFill>
                  </a:tcPr>
                </a:tc>
                <a:tc>
                  <a:txBody>
                    <a:bodyPr anchor="t" rtlCol="false"/>
                    <a:lstStyle/>
                    <a:p>
                      <a:pPr algn="ctr" marL="0" indent="0">
                        <a:lnSpc>
                          <a:spcPct val="100000"/>
                        </a:lnSpc>
                        <a:defRPr/>
                      </a:pPr>
                      <a:r>
                        <a:rPr lang="en-US" b="false" i="false" strike="noStrike" u="none" sz="1400">
                          <a:solidFill>
                            <a:srgbClr val="93C5FD"/>
                          </a:solidFill>
                          <a:latin typeface="JetBrains Mono"/>
                          <a:ea typeface="JetBrains Mono"/>
                          <a:cs typeface="JetBrains Mono"/>
                          <a:sym typeface="JetBrains Mono"/>
                        </a:rPr>
                        <a:t>LocalDateTime</a:t>
                      </a:r>
                      <a:endParaRPr lang="en-US" sz="1100"/>
                    </a:p>
                  </a:txBody>
                  <a:tcPr anchor="ctr" anchorCtr="false" marL="101600" marR="101600" marT="101600" marB="101600">
                    <a:lnL>
                      <a:noFill/>
                    </a:lnL>
                    <a:lnR>
                      <a:noFill/>
                    </a:lnR>
                    <a:lnT>
                      <a:noFill/>
                    </a:lnT>
                    <a:lnB>
                      <a:noFill/>
                    </a:lnB>
                    <a:solidFill>
                      <a:srgbClr val="1E293B">
                        <a:alpha val="70000"/>
                      </a:srgbClr>
                    </a:solidFill>
                  </a:tcPr>
                </a:tc>
                <a:tc>
                  <a:txBody>
                    <a:bodyPr anchor="t" rtlCol="false"/>
                    <a:lstStyle/>
                    <a:p>
                      <a:pPr algn="l" marL="0" indent="0">
                        <a:lnSpc>
                          <a:spcPct val="100000"/>
                        </a:lnSpc>
                        <a:defRPr/>
                      </a:pPr>
                      <a:r>
                        <a:rPr lang="en-US" b="false" i="false" strike="noStrike" u="none" sz="1400">
                          <a:solidFill>
                            <a:srgbClr val="E2E8F0">
                              <a:alpha val="90196"/>
                            </a:srgbClr>
                          </a:solidFill>
                          <a:latin typeface="Inter"/>
                          <a:ea typeface="Inter"/>
                          <a:cs typeface="Inter"/>
                          <a:sym typeface="Inter"/>
                        </a:rPr>
                        <a:t>Timestamp when the payment was created.</a:t>
                      </a:r>
                      <a:endParaRPr lang="en-US" sz="1100"/>
                    </a:p>
                  </a:txBody>
                  <a:tcPr anchor="ctr" anchorCtr="false" marL="254000" marR="101600" marT="101600" marB="101600">
                    <a:lnL>
                      <a:noFill/>
                    </a:lnL>
                    <a:lnR>
                      <a:noFill/>
                    </a:lnR>
                    <a:lnT>
                      <a:noFill/>
                    </a:lnT>
                    <a:lnB>
                      <a:noFill/>
                    </a:lnB>
                    <a:solidFill>
                      <a:srgbClr val="1E293B">
                        <a:alpha val="70000"/>
                      </a:srgbClr>
                    </a:solidFill>
                  </a:tcPr>
                </a:tc>
              </a:tr>
            </a:tbl>
          </a:graphicData>
        </a:graphic>
      </p:graphicFrame>
      <p:graphicFrame>
        <p:nvGraphicFramePr>
          <p:cNvPr name="Table 5" id="5"/>
          <p:cNvGraphicFramePr>
            <a:graphicFrameLocks noGrp="true"/>
          </p:cNvGraphicFramePr>
          <p:nvPr/>
        </p:nvGraphicFramePr>
        <p:xfrm>
          <a:off x="762000" y="4318000"/>
          <a:ext cx="10668000" cy="1955800"/>
        </p:xfrm>
        <a:graphic>
          <a:graphicData uri="http://schemas.openxmlformats.org/drawingml/2006/table">
            <a:tbl>
              <a:tblPr>
                <a:effectLst/>
              </a:tblPr>
              <a:tblGrid>
                <a:gridCol w="2032000"/>
                <a:gridCol w="2286000"/>
                <a:gridCol w="6350000"/>
              </a:tblGrid>
              <a:tr h="508000">
                <a:tc>
                  <a:txBody>
                    <a:bodyPr anchor="t" rtlCol="false"/>
                    <a:lstStyle/>
                    <a:p>
                      <a:pPr algn="ctr" marL="0" indent="0">
                        <a:lnSpc>
                          <a:spcPct val="100000"/>
                        </a:lnSpc>
                        <a:defRPr/>
                      </a:pPr>
                      <a:r>
                        <a:rPr lang="en-US" b="true" i="false" strike="noStrike" u="none" sz="1600">
                          <a:solidFill>
                            <a:srgbClr val="FFFFFF"/>
                          </a:solidFill>
                          <a:latin typeface="JetBrains Mono Bold"/>
                          <a:ea typeface="JetBrains Mono Bold"/>
                          <a:cs typeface="JetBrains Mono Bold"/>
                          <a:sym typeface="JetBrains Mono Bold"/>
                        </a:rPr>
                        <a:t>Field</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JetBrains Mono Bold"/>
                          <a:ea typeface="JetBrains Mono Bold"/>
                          <a:cs typeface="JetBrains Mono Bold"/>
                          <a:sym typeface="JetBrains Mono Bold"/>
                        </a:rPr>
                        <a:t>Type</a:t>
                      </a:r>
                      <a:endParaRPr lang="en-US" sz="1100"/>
                    </a:p>
                  </a:txBody>
                  <a:tcPr anchor="ctr" anchorCtr="false" marL="101600" marR="101600" marT="101600" marB="101600">
                    <a:lnL>
                      <a:noFill/>
                    </a:lnL>
                    <a:lnR>
                      <a:noFill/>
                    </a:lnR>
                    <a:lnT>
                      <a:noFill/>
                    </a:lnT>
                    <a:lnB>
                      <a:noFill/>
                    </a:lnB>
                    <a:solidFill>
                      <a:srgbClr val="3B82F6">
                        <a:alpha val="100000"/>
                      </a:srgbClr>
                    </a:solidFill>
                  </a:tcPr>
                </a:tc>
                <a:tc>
                  <a:txBody>
                    <a:bodyPr anchor="t" rtlCol="false"/>
                    <a:lstStyle/>
                    <a:p>
                      <a:pPr algn="l" marL="0" indent="0">
                        <a:lnSpc>
                          <a:spcPct val="100000"/>
                        </a:lnSpc>
                        <a:defRPr/>
                      </a:pPr>
                      <a:r>
                        <a:rPr lang="en-US" b="true" i="false" strike="noStrike" u="none" sz="1600">
                          <a:solidFill>
                            <a:srgbClr val="FFFFFF"/>
                          </a:solidFill>
                          <a:latin typeface="Inter"/>
                          <a:ea typeface="Inter"/>
                          <a:cs typeface="Inter"/>
                          <a:sym typeface="Inter"/>
                        </a:rPr>
                        <a:t>Description</a:t>
                      </a:r>
                      <a:endParaRPr lang="en-US" sz="1100"/>
                    </a:p>
                  </a:txBody>
                  <a:tcPr anchor="ctr" anchorCtr="false" marL="254000" marR="101600" marT="101600" marB="101600">
                    <a:lnL>
                      <a:noFill/>
                    </a:lnL>
                    <a:lnR>
                      <a:noFill/>
                    </a:lnR>
                    <a:lnT>
                      <a:noFill/>
                    </a:lnT>
                    <a:lnB>
                      <a:noFill/>
                    </a:lnB>
                    <a:solidFill>
                      <a:srgbClr val="3B82F6">
                        <a:alpha val="100000"/>
                      </a:srgbClr>
                    </a:solidFill>
                  </a:tcPr>
                </a:tc>
              </a:tr>
              <a:tr h="482600">
                <a:tc>
                  <a:txBody>
                    <a:bodyPr anchor="t" rtlCol="false"/>
                    <a:lstStyle/>
                    <a:p>
                      <a:pPr algn="ctr" marL="0" indent="0">
                        <a:lnSpc>
                          <a:spcPct val="100000"/>
                        </a:lnSpc>
                        <a:defRPr/>
                      </a:pPr>
                      <a:r>
                        <a:rPr lang="en-US" b="false" i="false" strike="noStrike" u="none" sz="1400">
                          <a:solidFill>
                            <a:srgbClr val="FFFFFF"/>
                          </a:solidFill>
                          <a:latin typeface="JetBrains Mono"/>
                          <a:ea typeface="JetBrains Mono"/>
                          <a:cs typeface="JetBrains Mono"/>
                          <a:sym typeface="JetBrains Mono"/>
                        </a:rPr>
                        <a:t>id</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ctr" marL="0" indent="0">
                        <a:lnSpc>
                          <a:spcPct val="100000"/>
                        </a:lnSpc>
                        <a:defRPr/>
                      </a:pPr>
                      <a:r>
                        <a:rPr lang="en-US" b="false" i="false" strike="noStrike" u="none" sz="1400">
                          <a:solidFill>
                            <a:srgbClr val="93C5FD"/>
                          </a:solidFill>
                          <a:latin typeface="JetBrains Mono"/>
                          <a:ea typeface="JetBrains Mono"/>
                          <a:cs typeface="JetBrains Mono"/>
                          <a:sym typeface="JetBrains Mono"/>
                        </a:rPr>
                        <a:t>Long</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l" marL="0" indent="0">
                        <a:lnSpc>
                          <a:spcPct val="100000"/>
                        </a:lnSpc>
                        <a:defRPr/>
                      </a:pPr>
                      <a:r>
                        <a:rPr lang="en-US" b="false" i="false" strike="noStrike" u="none" sz="1400">
                          <a:solidFill>
                            <a:srgbClr val="E2E8F0">
                              <a:alpha val="90196"/>
                            </a:srgbClr>
                          </a:solidFill>
                          <a:latin typeface="Inter"/>
                          <a:ea typeface="Inter"/>
                          <a:cs typeface="Inter"/>
                          <a:sym typeface="Inter"/>
                        </a:rPr>
                        <a:t>Primary key, auto-incremented unique identifier.</a:t>
                      </a:r>
                      <a:endParaRPr lang="en-US" sz="1100"/>
                    </a:p>
                  </a:txBody>
                  <a:tcPr anchor="ctr" anchorCtr="false" marL="254000" marR="101600" marT="101600" marB="101600">
                    <a:lnL>
                      <a:noFill/>
                    </a:lnL>
                    <a:lnR>
                      <a:noFill/>
                    </a:lnR>
                    <a:lnT>
                      <a:noFill/>
                    </a:lnT>
                    <a:lnB>
                      <a:noFill/>
                    </a:lnB>
                    <a:solidFill>
                      <a:srgbClr val="0F172A">
                        <a:alpha val="70000"/>
                      </a:srgbClr>
                    </a:solidFill>
                  </a:tcPr>
                </a:tc>
              </a:tr>
              <a:tr h="482600">
                <a:tc>
                  <a:txBody>
                    <a:bodyPr anchor="t" rtlCol="false"/>
                    <a:lstStyle/>
                    <a:p>
                      <a:pPr algn="ctr" marL="0" indent="0">
                        <a:lnSpc>
                          <a:spcPct val="100000"/>
                        </a:lnSpc>
                        <a:defRPr/>
                      </a:pPr>
                      <a:r>
                        <a:rPr lang="en-US" b="false" i="false" strike="noStrike" u="none" sz="1400">
                          <a:solidFill>
                            <a:srgbClr val="FFFFFF"/>
                          </a:solidFill>
                          <a:latin typeface="JetBrains Mono"/>
                          <a:ea typeface="JetBrains Mono"/>
                          <a:cs typeface="JetBrains Mono"/>
                          <a:sym typeface="JetBrains Mono"/>
                        </a:rPr>
                        <a:t>paymentId</a:t>
                      </a:r>
                      <a:endParaRPr lang="en-US" sz="1100"/>
                    </a:p>
                  </a:txBody>
                  <a:tcPr anchor="ctr" anchorCtr="false" marL="101600" marR="101600" marT="101600" marB="101600">
                    <a:lnL>
                      <a:noFill/>
                    </a:lnL>
                    <a:lnR>
                      <a:noFill/>
                    </a:lnR>
                    <a:lnT>
                      <a:noFill/>
                    </a:lnT>
                    <a:lnB>
                      <a:noFill/>
                    </a:lnB>
                    <a:solidFill>
                      <a:srgbClr val="1E293B">
                        <a:alpha val="70000"/>
                      </a:srgbClr>
                    </a:solidFill>
                  </a:tcPr>
                </a:tc>
                <a:tc>
                  <a:txBody>
                    <a:bodyPr anchor="t" rtlCol="false"/>
                    <a:lstStyle/>
                    <a:p>
                      <a:pPr algn="ctr" marL="0" indent="0">
                        <a:lnSpc>
                          <a:spcPct val="100000"/>
                        </a:lnSpc>
                        <a:defRPr/>
                      </a:pPr>
                      <a:r>
                        <a:rPr lang="en-US" b="false" i="false" strike="noStrike" u="none" sz="1400">
                          <a:solidFill>
                            <a:srgbClr val="93C5FD"/>
                          </a:solidFill>
                          <a:latin typeface="JetBrains Mono"/>
                          <a:ea typeface="JetBrains Mono"/>
                          <a:cs typeface="JetBrains Mono"/>
                          <a:sym typeface="JetBrains Mono"/>
                        </a:rPr>
                        <a:t>Long</a:t>
                      </a:r>
                      <a:endParaRPr lang="en-US" sz="1100"/>
                    </a:p>
                  </a:txBody>
                  <a:tcPr anchor="ctr" anchorCtr="false" marL="101600" marR="101600" marT="101600" marB="101600">
                    <a:lnL>
                      <a:noFill/>
                    </a:lnL>
                    <a:lnR>
                      <a:noFill/>
                    </a:lnR>
                    <a:lnT>
                      <a:noFill/>
                    </a:lnT>
                    <a:lnB>
                      <a:noFill/>
                    </a:lnB>
                    <a:solidFill>
                      <a:srgbClr val="1E293B">
                        <a:alpha val="70000"/>
                      </a:srgbClr>
                    </a:solidFill>
                  </a:tcPr>
                </a:tc>
                <a:tc>
                  <a:txBody>
                    <a:bodyPr anchor="t" rtlCol="false"/>
                    <a:lstStyle/>
                    <a:p>
                      <a:pPr algn="l" marL="0" indent="0">
                        <a:lnSpc>
                          <a:spcPct val="100000"/>
                        </a:lnSpc>
                        <a:defRPr/>
                      </a:pPr>
                      <a:r>
                        <a:rPr lang="en-US" b="false" i="false" strike="noStrike" u="none" sz="1400">
                          <a:solidFill>
                            <a:srgbClr val="E2E8F0">
                              <a:alpha val="90196"/>
                            </a:srgbClr>
                          </a:solidFill>
                          <a:latin typeface="Inter"/>
                          <a:ea typeface="Inter"/>
                          <a:cs typeface="Inter"/>
                          <a:sym typeface="Inter"/>
                        </a:rPr>
                        <a:t>Foreign key to the Payment entity.</a:t>
                      </a:r>
                      <a:endParaRPr lang="en-US" sz="1100"/>
                    </a:p>
                  </a:txBody>
                  <a:tcPr anchor="ctr" anchorCtr="false" marL="254000" marR="101600" marT="101600" marB="101600">
                    <a:lnL>
                      <a:noFill/>
                    </a:lnL>
                    <a:lnR>
                      <a:noFill/>
                    </a:lnR>
                    <a:lnT>
                      <a:noFill/>
                    </a:lnT>
                    <a:lnB>
                      <a:noFill/>
                    </a:lnB>
                    <a:solidFill>
                      <a:srgbClr val="1E293B">
                        <a:alpha val="70000"/>
                      </a:srgbClr>
                    </a:solidFill>
                  </a:tcPr>
                </a:tc>
              </a:tr>
              <a:tr h="482600">
                <a:tc>
                  <a:txBody>
                    <a:bodyPr anchor="t" rtlCol="false"/>
                    <a:lstStyle/>
                    <a:p>
                      <a:pPr algn="ctr" marL="0" indent="0">
                        <a:lnSpc>
                          <a:spcPct val="100000"/>
                        </a:lnSpc>
                        <a:defRPr/>
                      </a:pPr>
                      <a:r>
                        <a:rPr lang="en-US" b="false" i="false" strike="noStrike" u="none" sz="1400">
                          <a:solidFill>
                            <a:srgbClr val="FFFFFF"/>
                          </a:solidFill>
                          <a:latin typeface="JetBrains Mono"/>
                          <a:ea typeface="JetBrains Mono"/>
                          <a:cs typeface="JetBrains Mono"/>
                          <a:sym typeface="JetBrains Mono"/>
                        </a:rPr>
                        <a:t>status</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ctr" marL="0" indent="0">
                        <a:lnSpc>
                          <a:spcPct val="100000"/>
                        </a:lnSpc>
                        <a:defRPr/>
                      </a:pPr>
                      <a:r>
                        <a:rPr lang="en-US" b="false" i="false" strike="noStrike" u="none" sz="1400">
                          <a:solidFill>
                            <a:srgbClr val="93C5FD"/>
                          </a:solidFill>
                          <a:latin typeface="JetBrains Mono"/>
                          <a:ea typeface="JetBrains Mono"/>
                          <a:cs typeface="JetBrains Mono"/>
                          <a:sym typeface="JetBrains Mono"/>
                        </a:rPr>
                        <a:t>String</a:t>
                      </a:r>
                      <a:endParaRPr lang="en-US" sz="1100"/>
                    </a:p>
                  </a:txBody>
                  <a:tcPr anchor="ctr" anchorCtr="false" marL="101600" marR="101600" marT="101600" marB="101600">
                    <a:lnL>
                      <a:noFill/>
                    </a:lnL>
                    <a:lnR>
                      <a:noFill/>
                    </a:lnR>
                    <a:lnT>
                      <a:noFill/>
                    </a:lnT>
                    <a:lnB>
                      <a:noFill/>
                    </a:lnB>
                    <a:solidFill>
                      <a:srgbClr val="0F172A">
                        <a:alpha val="70000"/>
                      </a:srgbClr>
                    </a:solidFill>
                  </a:tcPr>
                </a:tc>
                <a:tc>
                  <a:txBody>
                    <a:bodyPr anchor="t" rtlCol="false"/>
                    <a:lstStyle/>
                    <a:p>
                      <a:pPr algn="l" marL="0" indent="0">
                        <a:lnSpc>
                          <a:spcPct val="100000"/>
                        </a:lnSpc>
                        <a:defRPr/>
                      </a:pPr>
                      <a:r>
                        <a:rPr lang="en-US" b="false" i="false" strike="noStrike" u="none" sz="1400">
                          <a:solidFill>
                            <a:srgbClr val="E2E8F0">
                              <a:alpha val="90196"/>
                            </a:srgbClr>
                          </a:solidFill>
                          <a:latin typeface="Inter"/>
                          <a:ea typeface="Inter"/>
                          <a:cs typeface="Inter"/>
                          <a:sym typeface="Inter"/>
                        </a:rPr>
                        <a:t>Status of the payment event.</a:t>
                      </a:r>
                      <a:endParaRPr lang="en-US" sz="1100"/>
                    </a:p>
                  </a:txBody>
                  <a:tcPr anchor="ctr" anchorCtr="false" marL="254000" marR="101600" marT="101600" marB="101600">
                    <a:lnL>
                      <a:noFill/>
                    </a:lnL>
                    <a:lnR>
                      <a:noFill/>
                    </a:lnR>
                    <a:lnT>
                      <a:noFill/>
                    </a:lnT>
                    <a:lnB>
                      <a:noFill/>
                    </a:lnB>
                    <a:solidFill>
                      <a:srgbClr val="0F172A">
                        <a:alpha val="70000"/>
                      </a:srgbClr>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3200">
                <a:solidFill>
                  <a:srgbClr val="FFFFFF"/>
                </a:solidFill>
                <a:latin typeface="JetBrains Mono Bold"/>
                <a:ea typeface="JetBrains Mono Bold"/>
                <a:cs typeface="JetBrains Mono Bold"/>
                <a:sym typeface="JetBrains Mono Bold"/>
              </a:rPr>
              <a:t>07 Team</a:t>
            </a:r>
            <a:endParaRPr lang="en-US" sz="1100"/>
          </a:p>
        </p:txBody>
      </p:sp>
      <p:sp>
        <p:nvSpPr>
          <p:cNvPr name="AutoShape 4" id="4"/>
          <p:cNvSpPr/>
          <p:nvPr/>
        </p:nvSpPr>
        <p:spPr>
          <a:xfrm rot="0" flipH="false" flipV="false">
            <a:off x="762000" y="2032000"/>
            <a:ext cx="5080000" cy="2286000"/>
          </a:xfrm>
          <a:prstGeom prst="roundRect">
            <a:avLst>
              <a:gd name="adj" fmla="val 0"/>
            </a:avLst>
          </a:prstGeom>
          <a:solidFill>
            <a:srgbClr val="1F2937">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50800" cy="2286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66800" y="2336800"/>
            <a:ext cx="6096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3200">
                <a:solidFill>
                  <a:srgbClr val="60A5FA"/>
                </a:solidFill>
                <a:latin typeface="Segoe UI Emoji"/>
                <a:ea typeface="Segoe UI Emoji"/>
                <a:cs typeface="Segoe UI Emoji"/>
                <a:sym typeface="Segoe UI Emoji"/>
              </a:rPr>
              <a:t>📂</a:t>
            </a:r>
            <a:endParaRPr lang="en-US" sz="1100"/>
          </a:p>
        </p:txBody>
      </p:sp>
      <p:sp>
        <p:nvSpPr>
          <p:cNvPr name="AutoShape 7" id="7"/>
          <p:cNvSpPr/>
          <p:nvPr/>
        </p:nvSpPr>
        <p:spPr>
          <a:xfrm rot="0" flipH="false" flipV="false">
            <a:off x="1879600" y="24511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60A5FA"/>
                </a:solidFill>
                <a:latin typeface="JetBrains Mono Bold"/>
                <a:ea typeface="JetBrains Mono Bold"/>
                <a:cs typeface="JetBrains Mono Bold"/>
                <a:sym typeface="JetBrains Mono Bold"/>
              </a:rPr>
              <a:t>Separation of Concerns</a:t>
            </a:r>
            <a:endParaRPr lang="en-US" sz="1100"/>
          </a:p>
        </p:txBody>
      </p:sp>
      <p:sp>
        <p:nvSpPr>
          <p:cNvPr name="AutoShape 8" id="8"/>
          <p:cNvSpPr/>
          <p:nvPr/>
        </p:nvSpPr>
        <p:spPr>
          <a:xfrm rot="0" flipH="false" flipV="false">
            <a:off x="1066800" y="3098800"/>
            <a:ext cx="4318000" cy="1016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400">
                <a:solidFill>
                  <a:srgbClr val="E5E7EB"/>
                </a:solidFill>
                <a:latin typeface="JetBrains Mono"/>
                <a:ea typeface="JetBrains Mono"/>
                <a:cs typeface="JetBrains Mono"/>
                <a:sym typeface="JetBrains Mono"/>
              </a:rPr>
              <a:t>Strict layered architecture: Controllers handle HTTP, Services encapsulate logic, DAOs manage persistence.</a:t>
            </a:r>
            <a:endParaRPr lang="en-US" sz="1100"/>
          </a:p>
        </p:txBody>
      </p:sp>
      <p:sp>
        <p:nvSpPr>
          <p:cNvPr name="AutoShape 9" id="9"/>
          <p:cNvSpPr/>
          <p:nvPr/>
        </p:nvSpPr>
        <p:spPr>
          <a:xfrm rot="0" flipH="false" flipV="false">
            <a:off x="6350000" y="2032000"/>
            <a:ext cx="5080000" cy="2286000"/>
          </a:xfrm>
          <a:prstGeom prst="roundRect">
            <a:avLst>
              <a:gd name="adj" fmla="val 0"/>
            </a:avLst>
          </a:prstGeom>
          <a:solidFill>
            <a:srgbClr val="1F2937">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0" y="2032000"/>
            <a:ext cx="50800" cy="2286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54800" y="2336800"/>
            <a:ext cx="6096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3200">
                <a:solidFill>
                  <a:srgbClr val="60A5FA"/>
                </a:solidFill>
                <a:latin typeface="Segoe UI Emoji"/>
                <a:ea typeface="Segoe UI Emoji"/>
                <a:cs typeface="Segoe UI Emoji"/>
                <a:sym typeface="Segoe UI Emoji"/>
              </a:rPr>
              <a:t>📦</a:t>
            </a:r>
            <a:endParaRPr lang="en-US" sz="1100"/>
          </a:p>
        </p:txBody>
      </p:sp>
      <p:sp>
        <p:nvSpPr>
          <p:cNvPr name="AutoShape 12" id="12"/>
          <p:cNvSpPr/>
          <p:nvPr/>
        </p:nvSpPr>
        <p:spPr>
          <a:xfrm rot="0" flipH="false" flipV="false">
            <a:off x="7467600" y="24511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60A5FA"/>
                </a:solidFill>
                <a:latin typeface="JetBrains Mono Bold"/>
                <a:ea typeface="JetBrains Mono Bold"/>
                <a:cs typeface="JetBrains Mono Bold"/>
                <a:sym typeface="JetBrains Mono Bold"/>
              </a:rPr>
              <a:t>DTO Usage</a:t>
            </a:r>
            <a:endParaRPr lang="en-US" sz="1100"/>
          </a:p>
        </p:txBody>
      </p:sp>
      <p:sp>
        <p:nvSpPr>
          <p:cNvPr name="AutoShape 13" id="13"/>
          <p:cNvSpPr/>
          <p:nvPr/>
        </p:nvSpPr>
        <p:spPr>
          <a:xfrm rot="0" flipH="false" flipV="false">
            <a:off x="6654800" y="3098800"/>
            <a:ext cx="4318000" cy="1016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400">
                <a:solidFill>
                  <a:srgbClr val="E5E7EB"/>
                </a:solidFill>
                <a:latin typeface="JetBrains Mono"/>
                <a:ea typeface="JetBrains Mono"/>
                <a:cs typeface="JetBrains Mono"/>
                <a:sym typeface="JetBrains Mono"/>
              </a:rPr>
              <a:t>Define clear API contracts with DTOs like PaymentResponse, decoupling internal models from external clients.</a:t>
            </a:r>
            <a:endParaRPr lang="en-US" sz="1100"/>
          </a:p>
        </p:txBody>
      </p:sp>
      <p:sp>
        <p:nvSpPr>
          <p:cNvPr name="AutoShape 14" id="14"/>
          <p:cNvSpPr/>
          <p:nvPr/>
        </p:nvSpPr>
        <p:spPr>
          <a:xfrm rot="0" flipH="false" flipV="false">
            <a:off x="762000" y="4572000"/>
            <a:ext cx="5080000" cy="1905000"/>
          </a:xfrm>
          <a:prstGeom prst="roundRect">
            <a:avLst>
              <a:gd name="adj" fmla="val 0"/>
            </a:avLst>
          </a:prstGeom>
          <a:solidFill>
            <a:srgbClr val="1F2937">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4572000"/>
            <a:ext cx="50800" cy="1905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66800" y="4826000"/>
            <a:ext cx="50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2800">
                <a:solidFill>
                  <a:srgbClr val="60A5FA"/>
                </a:solidFill>
                <a:latin typeface="Segoe UI Emoji"/>
                <a:ea typeface="Segoe UI Emoji"/>
                <a:cs typeface="Segoe UI Emoji"/>
                <a:sym typeface="Segoe UI Emoji"/>
              </a:rPr>
              <a:t>🛡️</a:t>
            </a:r>
            <a:endParaRPr lang="en-US" sz="1100"/>
          </a:p>
        </p:txBody>
      </p:sp>
      <p:sp>
        <p:nvSpPr>
          <p:cNvPr name="AutoShape 17" id="17"/>
          <p:cNvSpPr/>
          <p:nvPr/>
        </p:nvSpPr>
        <p:spPr>
          <a:xfrm rot="0" flipH="false" flipV="false">
            <a:off x="1778000" y="4902200"/>
            <a:ext cx="381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60A5FA"/>
                </a:solidFill>
                <a:latin typeface="JetBrains Mono Bold"/>
                <a:ea typeface="JetBrains Mono Bold"/>
                <a:cs typeface="JetBrains Mono Bold"/>
                <a:sym typeface="JetBrains Mono Bold"/>
              </a:rPr>
              <a:t>Robust Validation</a:t>
            </a:r>
            <a:endParaRPr lang="en-US" sz="1100"/>
          </a:p>
        </p:txBody>
      </p:sp>
      <p:sp>
        <p:nvSpPr>
          <p:cNvPr name="AutoShape 18" id="18"/>
          <p:cNvSpPr/>
          <p:nvPr/>
        </p:nvSpPr>
        <p:spPr>
          <a:xfrm rot="0" flipH="false" flipV="false">
            <a:off x="1066800" y="5461000"/>
            <a:ext cx="43180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E5E7EB"/>
                </a:solidFill>
                <a:latin typeface="JetBrains Mono"/>
                <a:ea typeface="JetBrains Mono"/>
                <a:cs typeface="JetBrains Mono"/>
                <a:sym typeface="JetBrains Mono"/>
              </a:rPr>
              <a:t>Comprehensive input validation ensures data integrity and prevents invalid requests from reaching the core logic.</a:t>
            </a:r>
            <a:endParaRPr lang="en-US" sz="1100"/>
          </a:p>
        </p:txBody>
      </p:sp>
      <p:sp>
        <p:nvSpPr>
          <p:cNvPr name="AutoShape 19" id="19"/>
          <p:cNvSpPr/>
          <p:nvPr/>
        </p:nvSpPr>
        <p:spPr>
          <a:xfrm rot="0" flipH="false" flipV="false">
            <a:off x="6350000" y="4572000"/>
            <a:ext cx="5080000" cy="1905000"/>
          </a:xfrm>
          <a:prstGeom prst="roundRect">
            <a:avLst>
              <a:gd name="adj" fmla="val 0"/>
            </a:avLst>
          </a:prstGeom>
          <a:solidFill>
            <a:srgbClr val="1F2937">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350000" y="4572000"/>
            <a:ext cx="50800" cy="1905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654800" y="4826000"/>
            <a:ext cx="50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83333"/>
              </a:lnSpc>
              <a:defRPr/>
            </a:pPr>
            <a:r>
              <a:rPr lang="en-US" b="false" i="false" strike="noStrike" u="none" sz="2800">
                <a:solidFill>
                  <a:srgbClr val="60A5FA"/>
                </a:solidFill>
                <a:latin typeface="Segoe UI Emoji"/>
                <a:ea typeface="Segoe UI Emoji"/>
                <a:cs typeface="Segoe UI Emoji"/>
                <a:sym typeface="Segoe UI Emoji"/>
              </a:rPr>
              <a:t>🚦</a:t>
            </a:r>
            <a:endParaRPr lang="en-US" sz="1100"/>
          </a:p>
        </p:txBody>
      </p:sp>
      <p:sp>
        <p:nvSpPr>
          <p:cNvPr name="AutoShape 22" id="22"/>
          <p:cNvSpPr/>
          <p:nvPr/>
        </p:nvSpPr>
        <p:spPr>
          <a:xfrm rot="0" flipH="false" flipV="false">
            <a:off x="7366000" y="4902200"/>
            <a:ext cx="381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60A5FA"/>
                </a:solidFill>
                <a:latin typeface="JetBrains Mono Bold"/>
                <a:ea typeface="JetBrains Mono Bold"/>
                <a:cs typeface="JetBrains Mono Bold"/>
                <a:sym typeface="JetBrains Mono Bold"/>
              </a:rPr>
              <a:t>Consistent Error Handling</a:t>
            </a:r>
            <a:endParaRPr lang="en-US" sz="1100"/>
          </a:p>
        </p:txBody>
      </p:sp>
      <p:sp>
        <p:nvSpPr>
          <p:cNvPr name="AutoShape 23" id="23"/>
          <p:cNvSpPr/>
          <p:nvPr/>
        </p:nvSpPr>
        <p:spPr>
          <a:xfrm rot="0" flipH="false" flipV="false">
            <a:off x="6654800" y="5461000"/>
            <a:ext cx="4318000" cy="889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400">
                <a:solidFill>
                  <a:srgbClr val="E5E7EB"/>
                </a:solidFill>
                <a:latin typeface="JetBrains Mono"/>
                <a:ea typeface="JetBrains Mono"/>
                <a:cs typeface="JetBrains Mono"/>
                <a:sym typeface="JetBrains Mono"/>
              </a:rPr>
              <a:t>Standardized error response format with meaningful codes and messages for easier client-side handling.</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84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3200">
                <a:solidFill>
                  <a:srgbClr val="FFFFFF"/>
                </a:solidFill>
                <a:latin typeface="JetBrains Mono Bold"/>
                <a:ea typeface="JetBrains Mono Bold"/>
                <a:cs typeface="JetBrains Mono Bold"/>
                <a:sym typeface="JetBrains Mono Bold"/>
              </a:rPr>
              <a:t>07 Team</a:t>
            </a:r>
            <a:endParaRPr lang="en-US" sz="1100"/>
          </a:p>
        </p:txBody>
      </p:sp>
      <p:sp>
        <p:nvSpPr>
          <p:cNvPr name="AutoShape 4" id="4"/>
          <p:cNvSpPr/>
          <p:nvPr/>
        </p:nvSpPr>
        <p:spPr>
          <a:xfrm rot="0" flipH="false" flipV="false">
            <a:off x="762000" y="1397000"/>
            <a:ext cx="5207000" cy="2540000"/>
          </a:xfrm>
          <a:prstGeom prst="roundRect">
            <a:avLst>
              <a:gd name="adj" fmla="val 0"/>
            </a:avLst>
          </a:prstGeom>
          <a:gradFill rotWithShape="true">
            <a:gsLst>
              <a:gs pos="0">
                <a:srgbClr val="1E3A8A">
                  <a:alpha val="55000"/>
                </a:srgbClr>
              </a:gs>
              <a:gs pos="100000">
                <a:srgbClr val="3B82F6">
                  <a:alpha val="35000"/>
                </a:srgbClr>
              </a:gs>
            </a:gsLst>
            <a:lin ang="2700000"/>
          </a:gradFill>
          <a:ln w="12700" cmpd="sng" cap="flat">
            <a:solidFill>
              <a:srgbClr val="60A5FA">
                <a:alpha val="45000"/>
              </a:srgbClr>
            </a:solidFill>
            <a:prstDash val="solid"/>
            <a:round/>
          </a:ln>
          <a:effectLst>
            <a:outerShdw dir="5400000" dist="152400" blurRad="381000" algn="ctr" rotWithShape="false">
              <a:srgbClr val="000000">
                <a:alpha val="3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0" b="0"/>
          <a:stretch>
            <a:fillRect/>
          </a:stretch>
        </p:blipFill>
        <p:spPr>
          <a:xfrm rot="0" flipH="false" flipV="false">
            <a:off x="1016000" y="1651000"/>
            <a:ext cx="1270000" cy="1270000"/>
          </a:xfrm>
          <a:prstGeom prst="rect">
            <a:avLst/>
          </a:prstGeom>
          <a:noFill/>
          <a:ln w="25400" cmpd="sng" cap="flat">
            <a:noFill/>
            <a:prstDash val="solid"/>
            <a:round/>
          </a:ln>
        </p:spPr>
      </p:pic>
      <p:sp>
        <p:nvSpPr>
          <p:cNvPr name="AutoShape 6" id="6"/>
          <p:cNvSpPr/>
          <p:nvPr/>
        </p:nvSpPr>
        <p:spPr>
          <a:xfrm rot="0" flipH="false" flipV="false">
            <a:off x="2476500" y="1651000"/>
            <a:ext cx="330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6000">
                <a:latin typeface="Poppins"/>
                <a:ea typeface="Poppins"/>
                <a:cs typeface="Poppins"/>
                <a:sym typeface="Poppins"/>
              </a:rPr>
              <a:t>A</a:t>
            </a:r>
            <a:endParaRPr lang="en-US" sz="1100"/>
          </a:p>
        </p:txBody>
      </p:sp>
      <p:sp>
        <p:nvSpPr>
          <p:cNvPr name="AutoShape 7" id="7"/>
          <p:cNvSpPr/>
          <p:nvPr/>
        </p:nvSpPr>
        <p:spPr>
          <a:xfrm rot="0" flipH="false" flipV="false">
            <a:off x="1016000" y="3111500"/>
            <a:ext cx="4699000" cy="5715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FFFFFF"/>
                </a:solidFill>
                <a:latin typeface="JetBrains Mono"/>
                <a:ea typeface="JetBrains Mono"/>
                <a:cs typeface="JetBrains Mono"/>
                <a:sym typeface="JetBrains Mono"/>
              </a:rPr>
              <a:t>Create Order</a:t>
            </a:r>
            <a:endParaRPr lang="en-US" sz="1100"/>
          </a:p>
        </p:txBody>
      </p:sp>
      <p:sp>
        <p:nvSpPr>
          <p:cNvPr name="AutoShape 8" id="8"/>
          <p:cNvSpPr/>
          <p:nvPr/>
        </p:nvSpPr>
        <p:spPr>
          <a:xfrm rot="0" flipH="false" flipV="false">
            <a:off x="6223000" y="1397000"/>
            <a:ext cx="5207000" cy="2540000"/>
          </a:xfrm>
          <a:prstGeom prst="roundRect">
            <a:avLst>
              <a:gd name="adj" fmla="val 0"/>
            </a:avLst>
          </a:prstGeom>
          <a:gradFill rotWithShape="true">
            <a:gsLst>
              <a:gs pos="0">
                <a:srgbClr val="1E3A8A">
                  <a:alpha val="55000"/>
                </a:srgbClr>
              </a:gs>
              <a:gs pos="100000">
                <a:srgbClr val="3B82F6">
                  <a:alpha val="35000"/>
                </a:srgbClr>
              </a:gs>
            </a:gsLst>
            <a:lin ang="2700000"/>
          </a:gradFill>
          <a:ln w="12700" cmpd="sng" cap="flat">
            <a:solidFill>
              <a:srgbClr val="60A5FA">
                <a:alpha val="45000"/>
              </a:srgbClr>
            </a:solidFill>
            <a:prstDash val="solid"/>
            <a:round/>
          </a:ln>
          <a:effectLst>
            <a:outerShdw dir="5400000" dist="152400" blurRad="381000" algn="ctr" rotWithShape="false">
              <a:srgbClr val="000000">
                <a:alpha val="3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0" r="0" t="0" b="0"/>
          <a:stretch>
            <a:fillRect/>
          </a:stretch>
        </p:blipFill>
        <p:spPr>
          <a:xfrm rot="0" flipH="false" flipV="false">
            <a:off x="6477000" y="1651000"/>
            <a:ext cx="1270000" cy="1270000"/>
          </a:xfrm>
          <a:prstGeom prst="rect">
            <a:avLst/>
          </a:prstGeom>
          <a:noFill/>
          <a:ln w="25400" cmpd="sng" cap="flat">
            <a:noFill/>
            <a:prstDash val="solid"/>
            <a:round/>
          </a:ln>
        </p:spPr>
      </p:pic>
      <p:sp>
        <p:nvSpPr>
          <p:cNvPr name="AutoShape 10" id="10"/>
          <p:cNvSpPr/>
          <p:nvPr/>
        </p:nvSpPr>
        <p:spPr>
          <a:xfrm rot="0" flipH="false" flipV="false">
            <a:off x="7937500" y="1651000"/>
            <a:ext cx="330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6000">
                <a:latin typeface="Poppins"/>
                <a:ea typeface="Poppins"/>
                <a:cs typeface="Poppins"/>
                <a:sym typeface="Poppins"/>
              </a:rPr>
              <a:t>B</a:t>
            </a:r>
            <a:endParaRPr lang="en-US" sz="1100"/>
          </a:p>
        </p:txBody>
      </p:sp>
      <p:sp>
        <p:nvSpPr>
          <p:cNvPr name="AutoShape 11" id="11"/>
          <p:cNvSpPr/>
          <p:nvPr/>
        </p:nvSpPr>
        <p:spPr>
          <a:xfrm rot="0" flipH="false" flipV="false">
            <a:off x="6477000" y="3111500"/>
            <a:ext cx="4699000" cy="5715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FFFFFF"/>
                </a:solidFill>
                <a:latin typeface="JetBrains Mono"/>
                <a:ea typeface="JetBrains Mono"/>
                <a:cs typeface="JetBrains Mono"/>
                <a:sym typeface="JetBrains Mono"/>
              </a:rPr>
              <a:t>Order Detail</a:t>
            </a:r>
            <a:endParaRPr lang="en-US" sz="1100"/>
          </a:p>
        </p:txBody>
      </p:sp>
      <p:sp>
        <p:nvSpPr>
          <p:cNvPr name="AutoShape 12" id="12"/>
          <p:cNvSpPr/>
          <p:nvPr/>
        </p:nvSpPr>
        <p:spPr>
          <a:xfrm rot="0" flipH="false" flipV="false">
            <a:off x="762000" y="4127500"/>
            <a:ext cx="5207000" cy="2476500"/>
          </a:xfrm>
          <a:prstGeom prst="roundRect">
            <a:avLst>
              <a:gd name="adj" fmla="val 0"/>
            </a:avLst>
          </a:prstGeom>
          <a:gradFill rotWithShape="true">
            <a:gsLst>
              <a:gs pos="0">
                <a:srgbClr val="1E3A8A">
                  <a:alpha val="55000"/>
                </a:srgbClr>
              </a:gs>
              <a:gs pos="100000">
                <a:srgbClr val="3B82F6">
                  <a:alpha val="35000"/>
                </a:srgbClr>
              </a:gs>
            </a:gsLst>
            <a:lin ang="2700000"/>
          </a:gradFill>
          <a:ln w="12700" cmpd="sng" cap="flat">
            <a:solidFill>
              <a:srgbClr val="60A5FA">
                <a:alpha val="45000"/>
              </a:srgbClr>
            </a:solidFill>
            <a:prstDash val="solid"/>
            <a:round/>
          </a:ln>
          <a:effectLst>
            <a:outerShdw dir="5400000" dist="152400" blurRad="381000" algn="ctr" rotWithShape="false">
              <a:srgbClr val="000000">
                <a:alpha val="3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srcRect l="0" r="0" t="0" b="0"/>
          <a:stretch>
            <a:fillRect/>
          </a:stretch>
        </p:blipFill>
        <p:spPr>
          <a:xfrm rot="0" flipH="false" flipV="false">
            <a:off x="1016000" y="4381500"/>
            <a:ext cx="1270000" cy="1270000"/>
          </a:xfrm>
          <a:prstGeom prst="rect">
            <a:avLst/>
          </a:prstGeom>
          <a:noFill/>
          <a:ln w="25400" cmpd="sng" cap="flat">
            <a:noFill/>
            <a:prstDash val="solid"/>
            <a:round/>
          </a:ln>
        </p:spPr>
      </p:pic>
      <p:sp>
        <p:nvSpPr>
          <p:cNvPr name="AutoShape 14" id="14"/>
          <p:cNvSpPr/>
          <p:nvPr/>
        </p:nvSpPr>
        <p:spPr>
          <a:xfrm rot="0" flipH="false" flipV="false">
            <a:off x="2476500" y="4381500"/>
            <a:ext cx="330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6000">
                <a:latin typeface="Poppins"/>
                <a:ea typeface="Poppins"/>
                <a:cs typeface="Poppins"/>
                <a:sym typeface="Poppins"/>
              </a:rPr>
              <a:t>C</a:t>
            </a:r>
            <a:endParaRPr lang="en-US" sz="1100"/>
          </a:p>
        </p:txBody>
      </p:sp>
      <p:sp>
        <p:nvSpPr>
          <p:cNvPr name="AutoShape 15" id="15"/>
          <p:cNvSpPr/>
          <p:nvPr/>
        </p:nvSpPr>
        <p:spPr>
          <a:xfrm rot="0" flipH="false" flipV="false">
            <a:off x="1016000" y="5715000"/>
            <a:ext cx="4699000" cy="6985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FFFFFF"/>
                </a:solidFill>
                <a:latin typeface="JetBrains Mono"/>
                <a:ea typeface="JetBrains Mono"/>
                <a:cs typeface="JetBrains Mono"/>
                <a:sym typeface="JetBrains Mono"/>
              </a:rPr>
              <a:t>Order Query &amp; Filtering</a:t>
            </a:r>
            <a:endParaRPr lang="en-US" sz="1100"/>
          </a:p>
        </p:txBody>
      </p:sp>
      <p:sp>
        <p:nvSpPr>
          <p:cNvPr name="AutoShape 16" id="16"/>
          <p:cNvSpPr/>
          <p:nvPr/>
        </p:nvSpPr>
        <p:spPr>
          <a:xfrm rot="0" flipH="false" flipV="false">
            <a:off x="6223000" y="4127500"/>
            <a:ext cx="5207000" cy="2476500"/>
          </a:xfrm>
          <a:prstGeom prst="roundRect">
            <a:avLst>
              <a:gd name="adj" fmla="val 0"/>
            </a:avLst>
          </a:prstGeom>
          <a:gradFill rotWithShape="true">
            <a:gsLst>
              <a:gs pos="0">
                <a:srgbClr val="1E3A8A">
                  <a:alpha val="55000"/>
                </a:srgbClr>
              </a:gs>
              <a:gs pos="100000">
                <a:srgbClr val="3B82F6">
                  <a:alpha val="35000"/>
                </a:srgbClr>
              </a:gs>
            </a:gsLst>
            <a:lin ang="2700000"/>
          </a:gradFill>
          <a:ln w="12700" cmpd="sng" cap="flat">
            <a:solidFill>
              <a:srgbClr val="60A5FA">
                <a:alpha val="45000"/>
              </a:srgbClr>
            </a:solidFill>
            <a:prstDash val="solid"/>
            <a:round/>
          </a:ln>
          <a:effectLst>
            <a:outerShdw dir="5400000" dist="152400" blurRad="381000" algn="ctr" rotWithShape="false">
              <a:srgbClr val="000000">
                <a:alpha val="3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srcRect l="0" r="0" t="0" b="0"/>
          <a:stretch>
            <a:fillRect/>
          </a:stretch>
        </p:blipFill>
        <p:spPr>
          <a:xfrm rot="0" flipH="false" flipV="false">
            <a:off x="6477000" y="4381500"/>
            <a:ext cx="1270000" cy="1270000"/>
          </a:xfrm>
          <a:prstGeom prst="rect">
            <a:avLst/>
          </a:prstGeom>
          <a:noFill/>
          <a:ln w="25400" cmpd="sng" cap="flat">
            <a:noFill/>
            <a:prstDash val="solid"/>
            <a:round/>
          </a:ln>
        </p:spPr>
      </p:pic>
      <p:sp>
        <p:nvSpPr>
          <p:cNvPr name="AutoShape 18" id="18"/>
          <p:cNvSpPr/>
          <p:nvPr/>
        </p:nvSpPr>
        <p:spPr>
          <a:xfrm rot="0" flipH="false" flipV="false">
            <a:off x="7937500" y="4381500"/>
            <a:ext cx="330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83333"/>
              </a:lnSpc>
              <a:defRPr/>
            </a:pPr>
            <a:r>
              <a:rPr lang="en-US" b="true" i="false" strike="noStrike" u="none" sz="6000">
                <a:latin typeface="Poppins"/>
                <a:ea typeface="Poppins"/>
                <a:cs typeface="Poppins"/>
                <a:sym typeface="Poppins"/>
              </a:rPr>
              <a:t>D</a:t>
            </a:r>
            <a:endParaRPr lang="en-US" sz="1100"/>
          </a:p>
        </p:txBody>
      </p:sp>
      <p:sp>
        <p:nvSpPr>
          <p:cNvPr name="AutoShape 19" id="19"/>
          <p:cNvSpPr/>
          <p:nvPr/>
        </p:nvSpPr>
        <p:spPr>
          <a:xfrm rot="0" flipH="false" flipV="false">
            <a:off x="6477000" y="5715000"/>
            <a:ext cx="4699000" cy="571500"/>
          </a:xfrm>
          <a:prstGeom prst="rect">
            <a:avLst/>
          </a:prstGeom>
          <a:noFill/>
          <a:ln w="12700" cmpd="sng" cap="flat">
            <a:noFill/>
            <a:prstDash val="solid"/>
            <a:round/>
          </a:ln>
        </p:spPr>
        <p:txBody>
          <a:bodyPr anchor="t" rtlCol="false" anchorCtr="false" vert="horz" wrap="square" lIns="0" rIns="0" tIns="0" bIns="0"/>
          <a:lstStyle/>
          <a:p>
            <a:pPr algn="l" marL="0" indent="0">
              <a:lnSpc>
                <a:spcPct val="100000"/>
              </a:lnSpc>
              <a:defRPr/>
            </a:pPr>
            <a:r>
              <a:rPr lang="en-US" b="true" i="false" strike="noStrike" u="none" sz="2000">
                <a:solidFill>
                  <a:srgbClr val="FFFFFF"/>
                </a:solidFill>
                <a:latin typeface="JetBrains Mono"/>
                <a:ea typeface="JetBrains Mono"/>
                <a:cs typeface="JetBrains Mono"/>
                <a:sym typeface="JetBrains Mono"/>
              </a:rPr>
              <a:t>Order History</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3200">
                <a:solidFill>
                  <a:srgbClr val="FFFFFF"/>
                </a:solidFill>
                <a:latin typeface="JetBrains Mono Bold"/>
                <a:ea typeface="JetBrains Mono Bold"/>
                <a:cs typeface="JetBrains Mono Bold"/>
                <a:sym typeface="JetBrains Mono Bold"/>
              </a:rPr>
              <a:t>08 Future Roadmap</a:t>
            </a:r>
            <a:endParaRPr lang="en-US" sz="1100"/>
          </a:p>
        </p:txBody>
      </p:sp>
      <p:sp>
        <p:nvSpPr>
          <p:cNvPr name="AutoShape 4" id="4"/>
          <p:cNvSpPr/>
          <p:nvPr/>
        </p:nvSpPr>
        <p:spPr>
          <a:xfrm rot="0" flipH="false" flipV="false">
            <a:off x="1016000" y="2286000"/>
            <a:ext cx="4826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2000">
                <a:solidFill>
                  <a:srgbClr val="FFFFFF"/>
                </a:solidFill>
                <a:latin typeface="JetBrains Mono Bold"/>
                <a:ea typeface="JetBrains Mono Bold"/>
                <a:cs typeface="JetBrains Mono Bold"/>
                <a:sym typeface="JetBrains Mono Bold"/>
              </a:rPr>
              <a:t>Current Limitations</a:t>
            </a:r>
            <a:endParaRPr lang="en-US" sz="1100"/>
          </a:p>
        </p:txBody>
      </p:sp>
      <p:sp>
        <p:nvSpPr>
          <p:cNvPr name="AutoShape 5" id="5"/>
          <p:cNvSpPr/>
          <p:nvPr/>
        </p:nvSpPr>
        <p:spPr>
          <a:xfrm rot="0" flipH="false" flipV="false">
            <a:off x="1016000" y="3048000"/>
            <a:ext cx="4826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50000"/>
              </a:lnSpc>
              <a:defRPr/>
            </a:pPr>
            <a:r>
              <a:rPr lang="en-US" b="false" i="false" strike="noStrike" u="none" sz="1600">
                <a:solidFill>
                  <a:srgbClr val="ECEFF1"/>
                </a:solidFill>
                <a:latin typeface="JetBrains Mono"/>
                <a:ea typeface="JetBrains Mono"/>
                <a:cs typeface="JetBrains Mono"/>
                <a:sym typeface="JetBrains Mono"/>
              </a:rPr>
              <a:t>• No Payment Creation</a:t>
            </a:r>
            <a:r>
              <a:rPr lang="en-US" b="false" i="false" strike="noStrike" u="none" sz="1600">
                <a:solidFill>
                  <a:srgbClr val="ECEFF1"/>
                </a:solidFill>
                <a:latin typeface="JetBrains Mono"/>
                <a:ea typeface="JetBrains Mono"/>
                <a:cs typeface="JetBrains Mono"/>
                <a:sym typeface="JetBrains Mono"/>
              </a:rPr>
              <a:t/>
            </a:r>
            <a:endParaRPr lang="en-US" sz="1100"/>
          </a:p>
          <a:p>
            <a:pPr algn="l" marL="0" indent="0">
              <a:lnSpc>
                <a:spcPct val="150000"/>
              </a:lnSpc>
            </a:pPr>
            <a:r>
              <a:rPr lang="en-US" b="false" i="false" strike="noStrike" u="none" sz="1600">
                <a:solidFill>
                  <a:srgbClr val="ECEFF1"/>
                </a:solidFill>
                <a:latin typeface="JetBrains Mono"/>
                <a:ea typeface="JetBrains Mono"/>
                <a:cs typeface="JetBrains Mono"/>
                <a:sym typeface="JetBrains Mono"/>
              </a:rPr>
              <a:t>• No State Transitions</a:t>
            </a:r>
            <a:r>
              <a:rPr lang="en-US" b="false" i="false" strike="noStrike" u="none" sz="1600">
                <a:solidFill>
                  <a:srgbClr val="ECEFF1"/>
                </a:solidFill>
                <a:latin typeface="JetBrains Mono"/>
                <a:ea typeface="JetBrains Mono"/>
                <a:cs typeface="JetBrains Mono"/>
                <a:sym typeface="JetBrains Mono"/>
              </a:rPr>
              <a:t/>
            </a:r>
          </a:p>
          <a:p>
            <a:pPr algn="l" marL="0" indent="0">
              <a:lnSpc>
                <a:spcPct val="150000"/>
              </a:lnSpc>
            </a:pPr>
            <a:r>
              <a:rPr lang="en-US" b="false" i="false" strike="noStrike" u="none" sz="1600">
                <a:solidFill>
                  <a:srgbClr val="ECEFF1"/>
                </a:solidFill>
                <a:latin typeface="JetBrains Mono"/>
                <a:ea typeface="JetBrains Mono"/>
                <a:cs typeface="JetBrains Mono"/>
                <a:sym typeface="JetBrains Mono"/>
              </a:rPr>
              <a:t>• No Idempotency Enforcement</a:t>
            </a:r>
            <a:r>
              <a:rPr lang="en-US" b="false" i="false" strike="noStrike" u="none" sz="1600">
                <a:solidFill>
                  <a:srgbClr val="ECEFF1"/>
                </a:solidFill>
                <a:latin typeface="JetBrains Mono"/>
                <a:ea typeface="JetBrains Mono"/>
                <a:cs typeface="JetBrains Mono"/>
                <a:sym typeface="JetBrains Mono"/>
              </a:rPr>
              <a:t/>
            </a:r>
          </a:p>
          <a:p>
            <a:pPr algn="l" marL="0" indent="0">
              <a:lnSpc>
                <a:spcPct val="150000"/>
              </a:lnSpc>
            </a:pPr>
            <a:r>
              <a:rPr lang="en-US" b="false" i="false" strike="noStrike" u="none" sz="1600">
                <a:solidFill>
                  <a:srgbClr val="ECEFF1"/>
                </a:solidFill>
                <a:latin typeface="JetBrains Mono"/>
                <a:ea typeface="JetBrains Mono"/>
                <a:cs typeface="JetBrains Mono"/>
                <a:sym typeface="JetBrains Mono"/>
              </a:rPr>
              <a:t>• No Scheduler</a:t>
            </a:r>
          </a:p>
        </p:txBody>
      </p:sp>
      <p:sp>
        <p:nvSpPr>
          <p:cNvPr name="AutoShape 6" id="6"/>
          <p:cNvSpPr/>
          <p:nvPr/>
        </p:nvSpPr>
        <p:spPr>
          <a:xfrm rot="0" flipH="false" flipV="false">
            <a:off x="6350000" y="2286000"/>
            <a:ext cx="4826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2000">
                <a:solidFill>
                  <a:srgbClr val="FFFFFF"/>
                </a:solidFill>
                <a:latin typeface="JetBrains Mono Bold"/>
                <a:ea typeface="JetBrains Mono Bold"/>
                <a:cs typeface="JetBrains Mono Bold"/>
                <a:sym typeface="JetBrains Mono Bold"/>
              </a:rPr>
              <a:t>Future Roadmap</a:t>
            </a:r>
            <a:endParaRPr lang="en-US" sz="1100"/>
          </a:p>
        </p:txBody>
      </p:sp>
      <p:sp>
        <p:nvSpPr>
          <p:cNvPr name="AutoShape 7" id="7"/>
          <p:cNvSpPr/>
          <p:nvPr/>
        </p:nvSpPr>
        <p:spPr>
          <a:xfrm rot="0" flipH="false" flipV="false">
            <a:off x="6350000" y="3048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B82F6"/>
                </a:solidFill>
                <a:latin typeface="JetBrains Mono"/>
                <a:ea typeface="JetBrains Mono"/>
                <a:cs typeface="JetBrains Mono"/>
                <a:sym typeface="JetBrains Mono"/>
              </a:rPr>
              <a:t>01.</a:t>
            </a:r>
            <a:r>
              <a:rPr lang="en-US" b="false" i="false" strike="noStrike" u="none" sz="1600">
                <a:solidFill>
                  <a:srgbClr val="ECEFF1"/>
                </a:solidFill>
                <a:latin typeface="JetBrains Mono"/>
                <a:ea typeface="JetBrains Mono"/>
                <a:cs typeface="JetBrains Mono"/>
                <a:sym typeface="JetBrains Mono"/>
              </a:rPr>
              <a:t>Implement Payment Creation API</a:t>
            </a:r>
            <a:endParaRPr lang="en-US" sz="1100"/>
          </a:p>
        </p:txBody>
      </p:sp>
      <p:sp>
        <p:nvSpPr>
          <p:cNvPr name="AutoShape 8" id="8"/>
          <p:cNvSpPr/>
          <p:nvPr/>
        </p:nvSpPr>
        <p:spPr>
          <a:xfrm rot="0" flipH="false" flipV="false">
            <a:off x="6350000" y="3937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B82F6"/>
                </a:solidFill>
                <a:latin typeface="JetBrains Mono"/>
                <a:ea typeface="JetBrains Mono"/>
                <a:cs typeface="JetBrains Mono"/>
                <a:sym typeface="JetBrains Mono"/>
              </a:rPr>
              <a:t>02.</a:t>
            </a:r>
            <a:r>
              <a:rPr lang="en-US" b="false" i="false" strike="noStrike" u="none" sz="1600">
                <a:solidFill>
                  <a:srgbClr val="ECEFF1"/>
                </a:solidFill>
                <a:latin typeface="JetBrains Mono"/>
                <a:ea typeface="JetBrains Mono"/>
                <a:cs typeface="JetBrains Mono"/>
                <a:sym typeface="JetBrains Mono"/>
              </a:rPr>
              <a:t>Build State Machine Logic</a:t>
            </a:r>
            <a:endParaRPr lang="en-US" sz="1100"/>
          </a:p>
        </p:txBody>
      </p:sp>
      <p:sp>
        <p:nvSpPr>
          <p:cNvPr name="AutoShape 9" id="9"/>
          <p:cNvSpPr/>
          <p:nvPr/>
        </p:nvSpPr>
        <p:spPr>
          <a:xfrm rot="0" flipH="false" flipV="false">
            <a:off x="6350000" y="4826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B82F6"/>
                </a:solidFill>
                <a:latin typeface="JetBrains Mono"/>
                <a:ea typeface="JetBrains Mono"/>
                <a:cs typeface="JetBrains Mono"/>
                <a:sym typeface="JetBrains Mono"/>
              </a:rPr>
              <a:t>03.</a:t>
            </a:r>
            <a:r>
              <a:rPr lang="en-US" b="false" i="false" strike="noStrike" u="none" sz="1600">
                <a:solidFill>
                  <a:srgbClr val="ECEFF1"/>
                </a:solidFill>
                <a:latin typeface="JetBrains Mono"/>
                <a:ea typeface="JetBrains Mono"/>
                <a:cs typeface="JetBrains Mono"/>
                <a:sym typeface="JetBrains Mono"/>
              </a:rPr>
              <a:t>Integrate Scheduler &amp; Security</a:t>
            </a:r>
            <a:endParaRPr lang="en-US" sz="1100"/>
          </a:p>
        </p:txBody>
      </p:sp>
      <p:sp>
        <p:nvSpPr>
          <p:cNvPr name="AutoShape 10" id="10"/>
          <p:cNvSpPr/>
          <p:nvPr/>
        </p:nvSpPr>
        <p:spPr>
          <a:xfrm rot="0" flipH="false" flipV="false">
            <a:off x="6350000" y="5715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B82F6"/>
                </a:solidFill>
                <a:latin typeface="JetBrains Mono"/>
                <a:ea typeface="JetBrains Mono"/>
                <a:cs typeface="JetBrains Mono"/>
                <a:sym typeface="JetBrains Mono"/>
              </a:rPr>
              <a:t>04.</a:t>
            </a:r>
            <a:r>
              <a:rPr lang="en-US" b="false" i="false" strike="noStrike" u="none" sz="1600">
                <a:solidFill>
                  <a:srgbClr val="ECEFF1"/>
                </a:solidFill>
                <a:latin typeface="JetBrains Mono"/>
                <a:ea typeface="JetBrains Mono"/>
                <a:cs typeface="JetBrains Mono"/>
                <a:sym typeface="JetBrains Mono"/>
              </a:rPr>
              <a:t>Expand Error Handling</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0"/>
            <a:ext cx="12192000" cy="6858000"/>
          </a:xfrm>
          <a:prstGeom prst="roundRect">
            <a:avLst>
              <a:gd name="adj" fmla="val 0"/>
            </a:avLst>
          </a:prstGeom>
          <a:gradFill rotWithShape="true">
            <a:gsLst>
              <a:gs pos="30000">
                <a:srgbClr val="000000">
                  <a:alpha val="0"/>
                </a:srgbClr>
              </a:gs>
              <a:gs pos="78000">
                <a:srgbClr val="000000">
                  <a:alpha val="35000"/>
                </a:srgbClr>
              </a:gs>
            </a:gsLst>
            <a:path path="circle">
              <a:fillToRect l="50000" r="50000" t="50000" b="50000"/>
            </a:path>
            <a:tileRect t="0" b="0" l="0" r="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921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4800">
                <a:solidFill>
                  <a:srgbClr val="FFFFFF"/>
                </a:solidFill>
                <a:latin typeface="JetBrains Mono Bold"/>
                <a:ea typeface="JetBrains Mono Bold"/>
                <a:cs typeface="JetBrains Mono Bold"/>
                <a:sym typeface="JetBrains Mono Bold"/>
              </a:rPr>
              <a:t>Thank You</a:t>
            </a:r>
            <a:endParaRPr lang="en-US" sz="1100"/>
          </a:p>
        </p:txBody>
      </p:sp>
      <p:sp>
        <p:nvSpPr>
          <p:cNvPr name="AutoShape 5" id="5"/>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false" i="false" strike="noStrike" u="none" sz="2400">
                <a:solidFill>
                  <a:srgbClr val="FFFFFF"/>
                </a:solidFill>
                <a:latin typeface="JetBrains Mono"/>
                <a:ea typeface="JetBrains Mono"/>
                <a:cs typeface="JetBrains Mono"/>
                <a:sym typeface="JetBrains Mono"/>
              </a:rPr>
              <a:t>Q&amp;A</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{"Label":"1","ContentProducer":"001191110102MACQD9K64010000","ProduceID":"7667766356528597944","ReservedCode1":"","ContentPropagator":"","PropagateID":"","ReservedCode2":""}</vt:lpwstr>
  </property>
</Properties>
</file>